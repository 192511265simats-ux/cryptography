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74F02AD-1615-69A8-BE5C-800AAADE5DC8}">
          <p14:sldIdLst>
            <p14:sldId id="256"/>
            <p14:sldId id="257"/>
            <p14:sldId id="258"/>
          </p14:sldIdLst>
        </p14:section>
        <p14:section name="Key Concepts" id="{196CCD13-51DD-F8D8-7FF6-6953C5E48A19}">
          <p14:sldIdLst>
            <p14:sldId id="259"/>
            <p14:sldId id="260"/>
          </p14:sldIdLst>
        </p14:section>
        <p14:section name="Attacks" id="{3AC224CB-1E91-29EA-23A8-79C9774AB5EC}">
          <p14:sldIdLst>
            <p14:sldId id="261"/>
            <p14:sldId id="262"/>
            <p14:sldId id="263"/>
          </p14:sldIdLst>
        </p14:section>
        <p14:section name="Impact" id="{BE2540AA-9741-F068-1CAA-6513EE1A0D4E}">
          <p14:sldIdLst>
            <p14:sldId id="264"/>
          </p14:sldIdLst>
        </p14:section>
        <p14:section name="Defence" id="{94974BC8-FA47-6CE1-DF9B-3D5D07550B25}">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2686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topic is Security Attacks, Threats, Risks and their Impact on Security Goals. In simple words: what can go wrong with our data and networks, how attackers do it, and which security goal gets damaged each time. I will go step by step: goals first, then the key terms, then types of attacks, and finally how to protect ourselves.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why this topic matters. Almost everything we do online, like banking, email and even online exams, depends on networks. Attackers look for weak points to steal or damage data, so security is about protecting data and keeping services running. On the right is the plan for this presentation: first the security goals, then the key terms, common threats, the two types of attacks, and finally their impact and how we defend.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talking about attacks, we must know what we are protecting. These are the security goals, called the CIA triad. Confidentiality means secrets stay secret. Integrity means data is not changed. Availability means the service is there when we need it. Remember these three because every attack we study hurts at least one of them. Authentication, proving who you are, and non-repudiation, not being able to deny what you did, are sometimes added as extra goals.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words are often confused, so I use a simple house example. A threat is something that can cause harm, like a thief in your area. A vulnerability is a weakness, like a broken lock. An attack is when the thief actually uses that weakness. Risk is how likely the loss is and how bad it would be. If there is no threat, no weakness, or no valuable thing to lose, then risk is low. That is why risk is shown as threat times vulnerability times impact.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Threats come from three places. Human threats: hackers, dishonest insiders, and phishing emails that trick people. Software threats: malware like viruses and ransomware, bugs nobody patched, and weak passwords. Environmental threats: fire, floods, power cuts and hardware failure. Notice that not every threat is a hacker. Even a power cut can break the availability goal.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Attacks are divided into two groups. A passive attack is like someone secretly listening at the door. Nothing is changed, so nobody notices, which makes it hard to detect. The best defence is prevention, mainly encryption. An active attack is like someone entering and changing things. It is easier to notice but harder to prevent completely, so we focus on detecting it and recovering quickly.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simple picture. The sender sends a message to the receiver, and the attacker just listens on the line. There are two types. First, release of message contents: the attacker reads the actual message, for example a password sent over an open Wi-Fi. Second, traffic analysis: even if the message is encrypted, the attacker can learn patterns, such as who is communicating and how often. Both break confidentiality, and the victim never knows.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Active attacks change something. Masquerade: the attacker pretends to be someone else, like a fake bank website. Replay: the attacker records a valid message, such as a payment request, and sends it again. Modification: the attacker changes the message on the way, for example changing the amount. Denial of Service: the attacker floods a server with so many requests that normal users cannot get in. The tag at the bottom of each card shows which security goal is hurt most.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heart of the topic: each attack and the goal it damages. Eavesdropping and traffic analysis attack confidentiality. Replay and modification attack integrity. Denial of Service attacks availability. Masquerade attacks authenticity, because the system trusts someone who is not who they say. One attack can sometimes hurt more than one goal, but this shows the main one. If you know the goal, you can choose the right defence.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cannot remove all risk, but we can manage it in four steps: identify what needs protection, assess how likely and how damaging the threats are, mitigate by applying controls, and keep monitoring. Then match the control to the goal. Encryption protects confidentiality. Hashing and digital signatures protect integrity. Backups, firewalls and redundant servers protect availability. This is where cryptography, our course subject, directly helps.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remember the CIA goals, remember that a threat plus a weakness creates risk, remember that passive attacks spy and active attacks interfere, and remember that each attack damages a specific goal, so we pick a matching defence. Thank you. I am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E2238"/>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0E2238"/>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05840"/>
            <a:ext cx="6035040" cy="201168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3" name="Text 0"/>
          <p:cNvSpPr>
            <a:spLocks noGrp="1"/>
          </p:cNvSpPr>
          <p:nvPr>
            <p:ph type="body" idx="101" hasCustomPrompt="1"/>
          </p:nvPr>
        </p:nvSpPr>
        <p:spPr>
          <a:xfrm>
            <a:off x="548640" y="3246120"/>
            <a:ext cx="6035040" cy="731520"/>
          </a:xfrm>
          <a:prstGeom prst="rect">
            <a:avLst/>
          </a:prstGeom>
          <a:noFill/>
          <a:ln/>
        </p:spPr>
        <p:txBody>
          <a:bodyPr wrap="square" rtlCol="0"/>
          <a:lstStyle>
            <a:lvl1pPr marL="0" indent="0" algn="l">
              <a:buNone/>
              <a:defRPr lang="en-US" sz="1800" dirty="0">
                <a:solidFill>
                  <a:schemeClr val="bg2"/>
                </a:solidFill>
              </a:defRPr>
            </a:lvl1pPr>
          </a:lstStyle>
          <a:p>
            <a:pPr marL="0" indent="0" algn="l">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lgn="l">
              <a:buNone/>
              <a:defRPr lang="en-US" sz="3600" b="1" dirty="0">
                <a:solidFill>
                  <a:schemeClr val="tx2"/>
                </a:solidFill>
              </a:defRPr>
            </a:lvl1pPr>
          </a:lstStyle>
          <a:p>
            <a:pPr marL="0" indent="0" algn="l">
              <a:buNone/>
            </a:pPr>
            <a:endParaRPr lang="en-US" sz="3600" dirty="0"/>
          </a:p>
        </p:txBody>
      </p:sp>
      <p:sp>
        <p:nvSpPr>
          <p:cNvPr id="3" name="Text 0"/>
          <p:cNvSpPr/>
          <p:nvPr/>
        </p:nvSpPr>
        <p:spPr>
          <a:xfrm>
            <a:off x="457200" y="4773168"/>
            <a:ext cx="5486400" cy="228600"/>
          </a:xfrm>
          <a:prstGeom prst="rect">
            <a:avLst/>
          </a:prstGeom>
          <a:noFill/>
          <a:ln/>
        </p:spPr>
        <p:txBody>
          <a:bodyPr wrap="square" lIns="0" tIns="0" rIns="0" bIns="0" rtlCol="0" anchor="ctr"/>
          <a:lstStyle/>
          <a:p>
            <a:pPr marL="0" indent="0">
              <a:buNone/>
            </a:pPr>
            <a:r>
              <a:rPr lang="en-US" sz="1000" dirty="0">
                <a:solidFill>
                  <a:schemeClr val="accent5"/>
                </a:solidFill>
              </a:rPr>
              <a:t>CSA5116  |  Security Attacks, Threats &amp; Risks</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rgbClr val="0E2238"/>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05840"/>
            <a:ext cx="6035040" cy="2011680"/>
          </a:xfrm>
          <a:prstGeom prst="rect">
            <a:avLst/>
          </a:prstGeom>
          <a:noFill/>
          <a:ln/>
        </p:spPr>
        <p:txBody>
          <a:bodyPr wrap="square" lIns="0" tIns="0" rIns="0" bIns="0" rtlCol="0" anchor="t"/>
          <a:lstStyle/>
          <a:p>
            <a:pPr marL="0" indent="0" algn="l">
              <a:buNone/>
            </a:pPr>
            <a:r>
              <a:rPr lang="en-US" sz="3600" b="1" dirty="0">
                <a:solidFill>
                  <a:schemeClr val="bg1"/>
                </a:solidFill>
              </a:rPr>
              <a:t>Security Attacks, Threats, Risks and Their Impact on Security Goals</a:t>
            </a:r>
            <a:endParaRPr lang="en-US" sz="3600" dirty="0"/>
          </a:p>
        </p:txBody>
      </p:sp>
      <p:sp>
        <p:nvSpPr>
          <p:cNvPr id="3" name="Text 0"/>
          <p:cNvSpPr>
            <a:spLocks noGrp="1"/>
          </p:cNvSpPr>
          <p:nvPr>
            <p:ph type="body" idx="101" hasCustomPrompt="1"/>
          </p:nvPr>
        </p:nvSpPr>
        <p:spPr>
          <a:xfrm>
            <a:off x="548640" y="3246120"/>
            <a:ext cx="6035040" cy="731520"/>
          </a:xfrm>
          <a:prstGeom prst="rect">
            <a:avLst/>
          </a:prstGeom>
          <a:noFill/>
          <a:ln/>
        </p:spPr>
        <p:txBody>
          <a:bodyPr wrap="square" lIns="0" tIns="0" rIns="0" bIns="0" rtlCol="0" anchor="t"/>
          <a:lstStyle/>
          <a:p>
            <a:pPr marL="0" indent="0" algn="l">
              <a:buNone/>
            </a:pPr>
            <a:r>
              <a:rPr lang="en-US" sz="1800" dirty="0">
                <a:solidFill>
                  <a:schemeClr val="bg2"/>
                </a:solidFill>
              </a:rPr>
              <a:t>CSA5116 Cryptography and Network Security</a:t>
            </a:r>
            <a:endParaRPr lang="en-US" sz="1800" dirty="0"/>
          </a:p>
          <a:p>
            <a:pPr marL="0" indent="0" algn="l">
              <a:buNone/>
            </a:pPr>
            <a:r>
              <a:rPr lang="en-US" sz="1800" dirty="0">
                <a:solidFill>
                  <a:schemeClr val="bg2"/>
                </a:solidFill>
              </a:rPr>
              <a:t>Assessment 3 (CO1) - Technical Presentation</a:t>
            </a:r>
            <a:endParaRPr lang="en-US" sz="1800" dirty="0"/>
          </a:p>
        </p:txBody>
      </p:sp>
      <p:sp>
        <p:nvSpPr>
          <p:cNvPr id="4" name="Text 2"/>
          <p:cNvSpPr txBox="1"/>
          <p:nvPr/>
        </p:nvSpPr>
        <p:spPr>
          <a:xfrm>
            <a:off x="548640" y="4206240"/>
            <a:ext cx="6035040" cy="365760"/>
          </a:xfrm>
          <a:prstGeom prst="rect">
            <a:avLst/>
          </a:prstGeom>
          <a:noFill/>
          <a:ln/>
        </p:spPr>
        <p:txBody>
          <a:bodyPr wrap="square" lIns="0" tIns="0" rIns="0" bIns="0" rtlCol="0" anchor="t"/>
          <a:lstStyle/>
          <a:p>
            <a:pPr marL="0" indent="0">
              <a:buNone/>
            </a:pPr>
            <a:r>
              <a:rPr lang="en-US" sz="1400" dirty="0">
                <a:solidFill>
                  <a:schemeClr val="bg2"/>
                </a:solidFill>
              </a:rPr>
              <a:t>Presented </a:t>
            </a:r>
            <a:r>
              <a:rPr lang="en-US" sz="1400" dirty="0" err="1">
                <a:solidFill>
                  <a:schemeClr val="bg2"/>
                </a:solidFill>
              </a:rPr>
              <a:t>by:YUVANSHANKAR</a:t>
            </a:r>
            <a:r>
              <a:rPr lang="en-US" sz="1400" dirty="0">
                <a:solidFill>
                  <a:schemeClr val="bg2"/>
                </a:solidFill>
              </a:rPr>
              <a:t> U(192511265)</a:t>
            </a:r>
            <a:endParaRPr lang="en-US" sz="1400" dirty="0"/>
          </a:p>
        </p:txBody>
      </p:sp>
      <p:sp>
        <p:nvSpPr>
          <p:cNvPr id="5" name="Hero circle"/>
          <p:cNvSpPr/>
          <p:nvPr/>
        </p:nvSpPr>
        <p:spPr>
          <a:xfrm>
            <a:off x="7040880" y="1463040"/>
            <a:ext cx="1737360" cy="1737360"/>
          </a:xfrm>
          <a:prstGeom prst="ellipse">
            <a:avLst/>
          </a:prstGeom>
          <a:solidFill>
            <a:schemeClr val="accent1"/>
          </a:solidFill>
          <a:ln/>
        </p:spPr>
      </p:sp>
      <p:pic>
        <p:nvPicPr>
          <p:cNvPr id="6" name="Image 0" descr="shield"/>
          <p:cNvPicPr>
            <a:picLocks noChangeAspect="1"/>
          </p:cNvPicPr>
          <p:nvPr/>
        </p:nvPicPr>
        <p:blipFill>
          <a:blip r:embed="rId3"/>
          <a:stretch>
            <a:fillRect/>
          </a:stretch>
        </p:blipFill>
        <p:spPr>
          <a:xfrm>
            <a:off x="7498080" y="1920240"/>
            <a:ext cx="822960" cy="822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tx2"/>
                </a:solidFill>
              </a:rPr>
              <a:t>Introduction</a:t>
            </a:r>
            <a:endParaRPr lang="en-US" sz="3600" dirty="0"/>
          </a:p>
        </p:txBody>
      </p:sp>
      <p:sp>
        <p:nvSpPr>
          <p:cNvPr id="3" name="Why security matters"/>
          <p:cNvSpPr/>
          <p:nvPr/>
        </p:nvSpPr>
        <p:spPr>
          <a:xfrm>
            <a:off x="457200" y="1280160"/>
            <a:ext cx="3977640" cy="3200400"/>
          </a:xfrm>
          <a:prstGeom prst="roundRect">
            <a:avLst>
              <a:gd name="adj" fmla="val 3429"/>
            </a:avLst>
          </a:prstGeom>
          <a:solidFill>
            <a:schemeClr val="bg2"/>
          </a:solidFill>
          <a:ln/>
        </p:spPr>
      </p:sp>
      <p:sp>
        <p:nvSpPr>
          <p:cNvPr id="4" name="Why security matters circle"/>
          <p:cNvSpPr/>
          <p:nvPr/>
        </p:nvSpPr>
        <p:spPr>
          <a:xfrm>
            <a:off x="731520" y="1508760"/>
            <a:ext cx="640080" cy="640080"/>
          </a:xfrm>
          <a:prstGeom prst="ellipse">
            <a:avLst/>
          </a:prstGeom>
          <a:solidFill>
            <a:schemeClr val="accent1"/>
          </a:solidFill>
          <a:ln/>
        </p:spPr>
      </p:sp>
      <p:pic>
        <p:nvPicPr>
          <p:cNvPr id="5" name="Image 0" descr="Why security matters"/>
          <p:cNvPicPr>
            <a:picLocks noChangeAspect="1"/>
          </p:cNvPicPr>
          <p:nvPr/>
        </p:nvPicPr>
        <p:blipFill>
          <a:blip r:embed="rId3"/>
          <a:stretch>
            <a:fillRect/>
          </a:stretch>
        </p:blipFill>
        <p:spPr>
          <a:xfrm>
            <a:off x="891540" y="1668780"/>
            <a:ext cx="320040" cy="320040"/>
          </a:xfrm>
          <a:prstGeom prst="rect">
            <a:avLst/>
          </a:prstGeom>
        </p:spPr>
      </p:pic>
      <p:sp>
        <p:nvSpPr>
          <p:cNvPr id="6" name="Text 3"/>
          <p:cNvSpPr txBox="1"/>
          <p:nvPr/>
        </p:nvSpPr>
        <p:spPr>
          <a:xfrm>
            <a:off x="1554480" y="1508760"/>
            <a:ext cx="2743200" cy="640080"/>
          </a:xfrm>
          <a:prstGeom prst="rect">
            <a:avLst/>
          </a:prstGeom>
          <a:noFill/>
          <a:ln/>
        </p:spPr>
        <p:txBody>
          <a:bodyPr wrap="square" lIns="0" tIns="0" rIns="0" bIns="0" rtlCol="0" anchor="ctr"/>
          <a:lstStyle/>
          <a:p>
            <a:pPr marL="0" indent="0">
              <a:buNone/>
            </a:pPr>
            <a:r>
              <a:rPr lang="en-US" sz="2000" b="1" dirty="0">
                <a:solidFill>
                  <a:schemeClr val="tx2"/>
                </a:solidFill>
              </a:rPr>
              <a:t>Why security matters</a:t>
            </a:r>
            <a:endParaRPr lang="en-US" sz="2000" dirty="0"/>
          </a:p>
        </p:txBody>
      </p:sp>
      <p:sp>
        <p:nvSpPr>
          <p:cNvPr id="7" name="Text 4"/>
          <p:cNvSpPr txBox="1"/>
          <p:nvPr/>
        </p:nvSpPr>
        <p:spPr>
          <a:xfrm>
            <a:off x="777240" y="2423160"/>
            <a:ext cx="3383280" cy="19202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Banking, email and online exams all depend on networks</a:t>
            </a:r>
            <a:endParaRPr lang="en-US" sz="1600" dirty="0"/>
          </a:p>
          <a:p>
            <a:pPr marL="342900" indent="-342900">
              <a:spcAft>
                <a:spcPts val="1000"/>
              </a:spcAft>
              <a:buSzPct val="100000"/>
              <a:buChar char="•"/>
            </a:pPr>
            <a:r>
              <a:rPr lang="en-US" sz="1600" dirty="0">
                <a:solidFill>
                  <a:schemeClr val="tx1"/>
                </a:solidFill>
              </a:rPr>
              <a:t>Attackers look for weak points to steal or damage data</a:t>
            </a:r>
            <a:endParaRPr lang="en-US" sz="1600" dirty="0"/>
          </a:p>
          <a:p>
            <a:pPr marL="342900" indent="-342900">
              <a:spcAft>
                <a:spcPts val="1000"/>
              </a:spcAft>
              <a:buSzPct val="100000"/>
              <a:buChar char="•"/>
            </a:pPr>
            <a:r>
              <a:rPr lang="en-US" sz="1600" dirty="0">
                <a:solidFill>
                  <a:schemeClr val="tx1"/>
                </a:solidFill>
              </a:rPr>
              <a:t>Security protects data and keeps services running</a:t>
            </a:r>
            <a:endParaRPr lang="en-US" sz="1600" dirty="0"/>
          </a:p>
        </p:txBody>
      </p:sp>
      <p:sp>
        <p:nvSpPr>
          <p:cNvPr id="8" name="What we will cover"/>
          <p:cNvSpPr/>
          <p:nvPr/>
        </p:nvSpPr>
        <p:spPr>
          <a:xfrm>
            <a:off x="4709160" y="1280160"/>
            <a:ext cx="3977640" cy="3200400"/>
          </a:xfrm>
          <a:prstGeom prst="roundRect">
            <a:avLst>
              <a:gd name="adj" fmla="val 3429"/>
            </a:avLst>
          </a:prstGeom>
          <a:solidFill>
            <a:schemeClr val="bg2"/>
          </a:solidFill>
          <a:ln/>
        </p:spPr>
      </p:sp>
      <p:sp>
        <p:nvSpPr>
          <p:cNvPr id="9" name="What we will cover circle"/>
          <p:cNvSpPr/>
          <p:nvPr/>
        </p:nvSpPr>
        <p:spPr>
          <a:xfrm>
            <a:off x="4983480" y="1508760"/>
            <a:ext cx="640080" cy="640080"/>
          </a:xfrm>
          <a:prstGeom prst="ellipse">
            <a:avLst/>
          </a:prstGeom>
          <a:solidFill>
            <a:schemeClr val="accent2"/>
          </a:solidFill>
          <a:ln/>
        </p:spPr>
      </p:sp>
      <p:pic>
        <p:nvPicPr>
          <p:cNvPr id="10" name="Image 1" descr="What we will cover"/>
          <p:cNvPicPr>
            <a:picLocks noChangeAspect="1"/>
          </p:cNvPicPr>
          <p:nvPr/>
        </p:nvPicPr>
        <p:blipFill>
          <a:blip r:embed="rId4"/>
          <a:stretch>
            <a:fillRect/>
          </a:stretch>
        </p:blipFill>
        <p:spPr>
          <a:xfrm>
            <a:off x="5143500" y="1668780"/>
            <a:ext cx="320040" cy="320040"/>
          </a:xfrm>
          <a:prstGeom prst="rect">
            <a:avLst/>
          </a:prstGeom>
        </p:spPr>
      </p:pic>
      <p:sp>
        <p:nvSpPr>
          <p:cNvPr id="11" name="Text 7"/>
          <p:cNvSpPr txBox="1"/>
          <p:nvPr/>
        </p:nvSpPr>
        <p:spPr>
          <a:xfrm>
            <a:off x="5806440" y="1508760"/>
            <a:ext cx="2743200" cy="640080"/>
          </a:xfrm>
          <a:prstGeom prst="rect">
            <a:avLst/>
          </a:prstGeom>
          <a:noFill/>
          <a:ln/>
        </p:spPr>
        <p:txBody>
          <a:bodyPr wrap="square" lIns="0" tIns="0" rIns="0" bIns="0" rtlCol="0" anchor="ctr"/>
          <a:lstStyle/>
          <a:p>
            <a:pPr marL="0" indent="0">
              <a:buNone/>
            </a:pPr>
            <a:r>
              <a:rPr lang="en-US" sz="2000" b="1" dirty="0">
                <a:solidFill>
                  <a:schemeClr val="tx2"/>
                </a:solidFill>
              </a:rPr>
              <a:t>What we will cover</a:t>
            </a:r>
            <a:endParaRPr lang="en-US" sz="2000" dirty="0"/>
          </a:p>
        </p:txBody>
      </p:sp>
      <p:sp>
        <p:nvSpPr>
          <p:cNvPr id="12" name="Agenda number 1"/>
          <p:cNvSpPr/>
          <p:nvPr/>
        </p:nvSpPr>
        <p:spPr>
          <a:xfrm>
            <a:off x="5029200" y="2331720"/>
            <a:ext cx="310896" cy="310896"/>
          </a:xfrm>
          <a:prstGeom prst="ellipse">
            <a:avLst/>
          </a:prstGeom>
          <a:solidFill>
            <a:schemeClr val="tx2"/>
          </a:solidFill>
          <a:ln/>
        </p:spPr>
      </p:sp>
      <p:sp>
        <p:nvSpPr>
          <p:cNvPr id="13" name="Text 9"/>
          <p:cNvSpPr txBox="1"/>
          <p:nvPr/>
        </p:nvSpPr>
        <p:spPr>
          <a:xfrm>
            <a:off x="5029200" y="2331720"/>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14" name="Text 10"/>
          <p:cNvSpPr txBox="1"/>
          <p:nvPr/>
        </p:nvSpPr>
        <p:spPr>
          <a:xfrm>
            <a:off x="5532120" y="2331720"/>
            <a:ext cx="3017520" cy="310896"/>
          </a:xfrm>
          <a:prstGeom prst="rect">
            <a:avLst/>
          </a:prstGeom>
          <a:noFill/>
          <a:ln/>
        </p:spPr>
        <p:txBody>
          <a:bodyPr wrap="square" lIns="0" tIns="0" rIns="0" bIns="0" rtlCol="0" anchor="ctr"/>
          <a:lstStyle/>
          <a:p>
            <a:pPr marL="0" indent="0">
              <a:buNone/>
            </a:pPr>
            <a:r>
              <a:rPr lang="en-US" sz="1400" dirty="0">
                <a:solidFill>
                  <a:schemeClr val="tx1"/>
                </a:solidFill>
              </a:rPr>
              <a:t>Security goals (CIA)</a:t>
            </a:r>
            <a:endParaRPr lang="en-US" sz="1400" dirty="0"/>
          </a:p>
        </p:txBody>
      </p:sp>
      <p:sp>
        <p:nvSpPr>
          <p:cNvPr id="15" name="Agenda number 2"/>
          <p:cNvSpPr/>
          <p:nvPr/>
        </p:nvSpPr>
        <p:spPr>
          <a:xfrm>
            <a:off x="5029200" y="2752344"/>
            <a:ext cx="310896" cy="310896"/>
          </a:xfrm>
          <a:prstGeom prst="ellipse">
            <a:avLst/>
          </a:prstGeom>
          <a:solidFill>
            <a:schemeClr val="tx2"/>
          </a:solidFill>
          <a:ln/>
        </p:spPr>
      </p:sp>
      <p:sp>
        <p:nvSpPr>
          <p:cNvPr id="16" name="Text 12"/>
          <p:cNvSpPr txBox="1"/>
          <p:nvPr/>
        </p:nvSpPr>
        <p:spPr>
          <a:xfrm>
            <a:off x="5029200" y="2752344"/>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17" name="Text 13"/>
          <p:cNvSpPr txBox="1"/>
          <p:nvPr/>
        </p:nvSpPr>
        <p:spPr>
          <a:xfrm>
            <a:off x="5532120" y="2752344"/>
            <a:ext cx="3017520" cy="310896"/>
          </a:xfrm>
          <a:prstGeom prst="rect">
            <a:avLst/>
          </a:prstGeom>
          <a:noFill/>
          <a:ln/>
        </p:spPr>
        <p:txBody>
          <a:bodyPr wrap="square" lIns="0" tIns="0" rIns="0" bIns="0" rtlCol="0" anchor="ctr"/>
          <a:lstStyle/>
          <a:p>
            <a:pPr marL="0" indent="0">
              <a:buNone/>
            </a:pPr>
            <a:r>
              <a:rPr lang="en-US" sz="1400" dirty="0">
                <a:solidFill>
                  <a:schemeClr val="tx1"/>
                </a:solidFill>
              </a:rPr>
              <a:t>Threat, vulnerability, attack, risk</a:t>
            </a:r>
            <a:endParaRPr lang="en-US" sz="1400" dirty="0"/>
          </a:p>
        </p:txBody>
      </p:sp>
      <p:sp>
        <p:nvSpPr>
          <p:cNvPr id="18" name="Agenda number 3"/>
          <p:cNvSpPr/>
          <p:nvPr/>
        </p:nvSpPr>
        <p:spPr>
          <a:xfrm>
            <a:off x="5029200" y="3172968"/>
            <a:ext cx="310896" cy="310896"/>
          </a:xfrm>
          <a:prstGeom prst="ellipse">
            <a:avLst/>
          </a:prstGeom>
          <a:solidFill>
            <a:schemeClr val="tx2"/>
          </a:solidFill>
          <a:ln/>
        </p:spPr>
      </p:sp>
      <p:sp>
        <p:nvSpPr>
          <p:cNvPr id="19" name="Text 15"/>
          <p:cNvSpPr txBox="1"/>
          <p:nvPr/>
        </p:nvSpPr>
        <p:spPr>
          <a:xfrm>
            <a:off x="5029200" y="3172968"/>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20" name="Text 16"/>
          <p:cNvSpPr txBox="1"/>
          <p:nvPr/>
        </p:nvSpPr>
        <p:spPr>
          <a:xfrm>
            <a:off x="5532120" y="3172968"/>
            <a:ext cx="3017520" cy="310896"/>
          </a:xfrm>
          <a:prstGeom prst="rect">
            <a:avLst/>
          </a:prstGeom>
          <a:noFill/>
          <a:ln/>
        </p:spPr>
        <p:txBody>
          <a:bodyPr wrap="square" lIns="0" tIns="0" rIns="0" bIns="0" rtlCol="0" anchor="ctr"/>
          <a:lstStyle/>
          <a:p>
            <a:pPr marL="0" indent="0">
              <a:buNone/>
            </a:pPr>
            <a:r>
              <a:rPr lang="en-US" sz="1400" dirty="0">
                <a:solidFill>
                  <a:schemeClr val="tx1"/>
                </a:solidFill>
              </a:rPr>
              <a:t>Common threats</a:t>
            </a:r>
            <a:endParaRPr lang="en-US" sz="1400" dirty="0"/>
          </a:p>
        </p:txBody>
      </p:sp>
      <p:sp>
        <p:nvSpPr>
          <p:cNvPr id="21" name="Agenda number 4"/>
          <p:cNvSpPr/>
          <p:nvPr/>
        </p:nvSpPr>
        <p:spPr>
          <a:xfrm>
            <a:off x="5029200" y="3593592"/>
            <a:ext cx="310896" cy="310896"/>
          </a:xfrm>
          <a:prstGeom prst="ellipse">
            <a:avLst/>
          </a:prstGeom>
          <a:solidFill>
            <a:schemeClr val="tx2"/>
          </a:solidFill>
          <a:ln/>
        </p:spPr>
      </p:sp>
      <p:sp>
        <p:nvSpPr>
          <p:cNvPr id="22" name="Text 18"/>
          <p:cNvSpPr txBox="1"/>
          <p:nvPr/>
        </p:nvSpPr>
        <p:spPr>
          <a:xfrm>
            <a:off x="5029200" y="3593592"/>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23" name="Text 19"/>
          <p:cNvSpPr txBox="1"/>
          <p:nvPr/>
        </p:nvSpPr>
        <p:spPr>
          <a:xfrm>
            <a:off x="5532120" y="3593592"/>
            <a:ext cx="3017520" cy="310896"/>
          </a:xfrm>
          <a:prstGeom prst="rect">
            <a:avLst/>
          </a:prstGeom>
          <a:noFill/>
          <a:ln/>
        </p:spPr>
        <p:txBody>
          <a:bodyPr wrap="square" lIns="0" tIns="0" rIns="0" bIns="0" rtlCol="0" anchor="ctr"/>
          <a:lstStyle/>
          <a:p>
            <a:pPr marL="0" indent="0">
              <a:buNone/>
            </a:pPr>
            <a:r>
              <a:rPr lang="en-US" sz="1400" dirty="0">
                <a:solidFill>
                  <a:schemeClr val="tx1"/>
                </a:solidFill>
              </a:rPr>
              <a:t>Passive and active attacks</a:t>
            </a:r>
            <a:endParaRPr lang="en-US" sz="1400" dirty="0"/>
          </a:p>
        </p:txBody>
      </p:sp>
      <p:sp>
        <p:nvSpPr>
          <p:cNvPr id="24" name="Agenda number 5"/>
          <p:cNvSpPr/>
          <p:nvPr/>
        </p:nvSpPr>
        <p:spPr>
          <a:xfrm>
            <a:off x="5029200" y="4014216"/>
            <a:ext cx="310896" cy="310896"/>
          </a:xfrm>
          <a:prstGeom prst="ellipse">
            <a:avLst/>
          </a:prstGeom>
          <a:solidFill>
            <a:schemeClr val="tx2"/>
          </a:solidFill>
          <a:ln/>
        </p:spPr>
      </p:sp>
      <p:sp>
        <p:nvSpPr>
          <p:cNvPr id="25" name="Text 21"/>
          <p:cNvSpPr txBox="1"/>
          <p:nvPr/>
        </p:nvSpPr>
        <p:spPr>
          <a:xfrm>
            <a:off x="5029200" y="4014216"/>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5</a:t>
            </a:r>
            <a:endParaRPr lang="en-US" sz="1200" dirty="0"/>
          </a:p>
        </p:txBody>
      </p:sp>
      <p:sp>
        <p:nvSpPr>
          <p:cNvPr id="26" name="Text 22"/>
          <p:cNvSpPr txBox="1"/>
          <p:nvPr/>
        </p:nvSpPr>
        <p:spPr>
          <a:xfrm>
            <a:off x="5532120" y="4014216"/>
            <a:ext cx="3017520" cy="310896"/>
          </a:xfrm>
          <a:prstGeom prst="rect">
            <a:avLst/>
          </a:prstGeom>
          <a:noFill/>
          <a:ln/>
        </p:spPr>
        <p:txBody>
          <a:bodyPr wrap="square" lIns="0" tIns="0" rIns="0" bIns="0" rtlCol="0" anchor="ctr"/>
          <a:lstStyle/>
          <a:p>
            <a:pPr marL="0" indent="0">
              <a:buNone/>
            </a:pPr>
            <a:r>
              <a:rPr lang="en-US" sz="1400" dirty="0">
                <a:solidFill>
                  <a:schemeClr val="tx1"/>
                </a:solidFill>
              </a:rPr>
              <a:t>Impact on goals and defence</a:t>
            </a:r>
            <a:endParaRPr lang="en-US" sz="1400" dirty="0"/>
          </a:p>
        </p:txBody>
      </p:sp>
      <p:sp>
        <p:nvSpPr>
          <p:cNvPr id="27"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tx2"/>
                </a:solidFill>
              </a:rPr>
              <a:t>What Are We Protecting?</a:t>
            </a:r>
            <a:endParaRPr lang="en-US" sz="3600" dirty="0"/>
          </a:p>
        </p:txBody>
      </p:sp>
      <p:sp>
        <p:nvSpPr>
          <p:cNvPr id="3" name="Goal card 1"/>
          <p:cNvSpPr/>
          <p:nvPr/>
        </p:nvSpPr>
        <p:spPr>
          <a:xfrm>
            <a:off x="457200" y="1280160"/>
            <a:ext cx="2560320" cy="2834640"/>
          </a:xfrm>
          <a:prstGeom prst="roundRect">
            <a:avLst>
              <a:gd name="adj" fmla="val 4286"/>
            </a:avLst>
          </a:prstGeom>
          <a:solidFill>
            <a:schemeClr val="bg2"/>
          </a:solidFill>
          <a:ln/>
        </p:spPr>
      </p:sp>
      <p:sp>
        <p:nvSpPr>
          <p:cNvPr id="4" name="Confidentiality circle"/>
          <p:cNvSpPr/>
          <p:nvPr/>
        </p:nvSpPr>
        <p:spPr>
          <a:xfrm>
            <a:off x="685800" y="1508760"/>
            <a:ext cx="731520" cy="731520"/>
          </a:xfrm>
          <a:prstGeom prst="ellipse">
            <a:avLst/>
          </a:prstGeom>
          <a:solidFill>
            <a:schemeClr val="accent4"/>
          </a:solidFill>
          <a:ln/>
        </p:spPr>
      </p:sp>
      <p:pic>
        <p:nvPicPr>
          <p:cNvPr id="5" name="Image 0" descr="Confidentiality"/>
          <p:cNvPicPr>
            <a:picLocks noChangeAspect="1"/>
          </p:cNvPicPr>
          <p:nvPr/>
        </p:nvPicPr>
        <p:blipFill>
          <a:blip r:embed="rId3"/>
          <a:stretch>
            <a:fillRect/>
          </a:stretch>
        </p:blipFill>
        <p:spPr>
          <a:xfrm>
            <a:off x="868680" y="1691640"/>
            <a:ext cx="365760" cy="365760"/>
          </a:xfrm>
          <a:prstGeom prst="rect">
            <a:avLst/>
          </a:prstGeom>
        </p:spPr>
      </p:pic>
      <p:sp>
        <p:nvSpPr>
          <p:cNvPr id="6" name="Text 3"/>
          <p:cNvSpPr txBox="1"/>
          <p:nvPr/>
        </p:nvSpPr>
        <p:spPr>
          <a:xfrm>
            <a:off x="685800" y="2377440"/>
            <a:ext cx="2103120" cy="365760"/>
          </a:xfrm>
          <a:prstGeom prst="rect">
            <a:avLst/>
          </a:prstGeom>
          <a:noFill/>
          <a:ln/>
        </p:spPr>
        <p:txBody>
          <a:bodyPr wrap="square" lIns="0" tIns="0" rIns="0" bIns="0" rtlCol="0" anchor="t"/>
          <a:lstStyle/>
          <a:p>
            <a:pPr marL="0" indent="0">
              <a:buNone/>
            </a:pPr>
            <a:r>
              <a:rPr lang="en-US" sz="2000" b="1" dirty="0">
                <a:solidFill>
                  <a:schemeClr val="tx2"/>
                </a:solidFill>
              </a:rPr>
              <a:t>Confidentiality</a:t>
            </a:r>
            <a:endParaRPr lang="en-US" sz="2000" dirty="0"/>
          </a:p>
        </p:txBody>
      </p:sp>
      <p:sp>
        <p:nvSpPr>
          <p:cNvPr id="7" name="Text 4"/>
          <p:cNvSpPr txBox="1"/>
          <p:nvPr/>
        </p:nvSpPr>
        <p:spPr>
          <a:xfrm>
            <a:off x="685800" y="2788920"/>
            <a:ext cx="2103120" cy="640080"/>
          </a:xfrm>
          <a:prstGeom prst="rect">
            <a:avLst/>
          </a:prstGeom>
          <a:noFill/>
          <a:ln/>
        </p:spPr>
        <p:txBody>
          <a:bodyPr wrap="square" lIns="0" tIns="0" rIns="0" bIns="0" rtlCol="0" anchor="t"/>
          <a:lstStyle/>
          <a:p>
            <a:pPr marL="0" indent="0">
              <a:buNone/>
            </a:pPr>
            <a:r>
              <a:rPr lang="en-US" sz="1400" dirty="0">
                <a:solidFill>
                  <a:schemeClr val="tx1"/>
                </a:solidFill>
              </a:rPr>
              <a:t>Only authorized people can read the data.</a:t>
            </a:r>
            <a:endParaRPr lang="en-US" sz="1400" dirty="0"/>
          </a:p>
        </p:txBody>
      </p:sp>
      <p:sp>
        <p:nvSpPr>
          <p:cNvPr id="8" name="Text 5"/>
          <p:cNvSpPr txBox="1"/>
          <p:nvPr/>
        </p:nvSpPr>
        <p:spPr>
          <a:xfrm>
            <a:off x="685800" y="3474720"/>
            <a:ext cx="2103120" cy="548640"/>
          </a:xfrm>
          <a:prstGeom prst="rect">
            <a:avLst/>
          </a:prstGeom>
          <a:noFill/>
          <a:ln/>
        </p:spPr>
        <p:txBody>
          <a:bodyPr wrap="square" lIns="0" tIns="0" rIns="0" bIns="0" rtlCol="0" anchor="t"/>
          <a:lstStyle/>
          <a:p>
            <a:pPr marL="0" indent="0">
              <a:buNone/>
            </a:pPr>
            <a:r>
              <a:rPr lang="en-US" sz="1400" i="1" dirty="0">
                <a:solidFill>
                  <a:schemeClr val="accent5"/>
                </a:solidFill>
              </a:rPr>
              <a:t>Example: your bank password stays private.</a:t>
            </a:r>
            <a:endParaRPr lang="en-US" sz="1400" dirty="0"/>
          </a:p>
        </p:txBody>
      </p:sp>
      <p:sp>
        <p:nvSpPr>
          <p:cNvPr id="9" name="Goal card 2"/>
          <p:cNvSpPr/>
          <p:nvPr/>
        </p:nvSpPr>
        <p:spPr>
          <a:xfrm>
            <a:off x="3291840" y="1280160"/>
            <a:ext cx="2560320" cy="2834640"/>
          </a:xfrm>
          <a:prstGeom prst="roundRect">
            <a:avLst>
              <a:gd name="adj" fmla="val 4286"/>
            </a:avLst>
          </a:prstGeom>
          <a:solidFill>
            <a:schemeClr val="bg2"/>
          </a:solidFill>
          <a:ln/>
        </p:spPr>
      </p:sp>
      <p:sp>
        <p:nvSpPr>
          <p:cNvPr id="10" name="Integrity circle"/>
          <p:cNvSpPr/>
          <p:nvPr/>
        </p:nvSpPr>
        <p:spPr>
          <a:xfrm>
            <a:off x="3520440" y="1508760"/>
            <a:ext cx="731520" cy="731520"/>
          </a:xfrm>
          <a:prstGeom prst="ellipse">
            <a:avLst/>
          </a:prstGeom>
          <a:solidFill>
            <a:schemeClr val="accent6"/>
          </a:solidFill>
          <a:ln/>
        </p:spPr>
      </p:sp>
      <p:pic>
        <p:nvPicPr>
          <p:cNvPr id="11" name="Image 1" descr="Integrity"/>
          <p:cNvPicPr>
            <a:picLocks noChangeAspect="1"/>
          </p:cNvPicPr>
          <p:nvPr/>
        </p:nvPicPr>
        <p:blipFill>
          <a:blip r:embed="rId4"/>
          <a:stretch>
            <a:fillRect/>
          </a:stretch>
        </p:blipFill>
        <p:spPr>
          <a:xfrm>
            <a:off x="3703320" y="1691640"/>
            <a:ext cx="365760" cy="365760"/>
          </a:xfrm>
          <a:prstGeom prst="rect">
            <a:avLst/>
          </a:prstGeom>
        </p:spPr>
      </p:pic>
      <p:sp>
        <p:nvSpPr>
          <p:cNvPr id="12" name="Text 8"/>
          <p:cNvSpPr txBox="1"/>
          <p:nvPr/>
        </p:nvSpPr>
        <p:spPr>
          <a:xfrm>
            <a:off x="3520440" y="2377440"/>
            <a:ext cx="2103120" cy="365760"/>
          </a:xfrm>
          <a:prstGeom prst="rect">
            <a:avLst/>
          </a:prstGeom>
          <a:noFill/>
          <a:ln/>
        </p:spPr>
        <p:txBody>
          <a:bodyPr wrap="square" lIns="0" tIns="0" rIns="0" bIns="0" rtlCol="0" anchor="t"/>
          <a:lstStyle/>
          <a:p>
            <a:pPr marL="0" indent="0">
              <a:buNone/>
            </a:pPr>
            <a:r>
              <a:rPr lang="en-US" sz="2000" b="1" dirty="0">
                <a:solidFill>
                  <a:schemeClr val="tx2"/>
                </a:solidFill>
              </a:rPr>
              <a:t>Integrity</a:t>
            </a:r>
            <a:endParaRPr lang="en-US" sz="2000" dirty="0"/>
          </a:p>
        </p:txBody>
      </p:sp>
      <p:sp>
        <p:nvSpPr>
          <p:cNvPr id="13" name="Text 9"/>
          <p:cNvSpPr txBox="1"/>
          <p:nvPr/>
        </p:nvSpPr>
        <p:spPr>
          <a:xfrm>
            <a:off x="3520440" y="2788920"/>
            <a:ext cx="2103120" cy="640080"/>
          </a:xfrm>
          <a:prstGeom prst="rect">
            <a:avLst/>
          </a:prstGeom>
          <a:noFill/>
          <a:ln/>
        </p:spPr>
        <p:txBody>
          <a:bodyPr wrap="square" lIns="0" tIns="0" rIns="0" bIns="0" rtlCol="0" anchor="t"/>
          <a:lstStyle/>
          <a:p>
            <a:pPr marL="0" indent="0">
              <a:buNone/>
            </a:pPr>
            <a:r>
              <a:rPr lang="en-US" sz="1400" dirty="0">
                <a:solidFill>
                  <a:schemeClr val="tx1"/>
                </a:solidFill>
              </a:rPr>
              <a:t>Data is not changed by anyone unauthorized.</a:t>
            </a:r>
            <a:endParaRPr lang="en-US" sz="1400" dirty="0"/>
          </a:p>
        </p:txBody>
      </p:sp>
      <p:sp>
        <p:nvSpPr>
          <p:cNvPr id="14" name="Text 10"/>
          <p:cNvSpPr txBox="1"/>
          <p:nvPr/>
        </p:nvSpPr>
        <p:spPr>
          <a:xfrm>
            <a:off x="3520440" y="3474720"/>
            <a:ext cx="2103120" cy="548640"/>
          </a:xfrm>
          <a:prstGeom prst="rect">
            <a:avLst/>
          </a:prstGeom>
          <a:noFill/>
          <a:ln/>
        </p:spPr>
        <p:txBody>
          <a:bodyPr wrap="square" lIns="0" tIns="0" rIns="0" bIns="0" rtlCol="0" anchor="t"/>
          <a:lstStyle/>
          <a:p>
            <a:pPr marL="0" indent="0">
              <a:buNone/>
            </a:pPr>
            <a:r>
              <a:rPr lang="en-US" sz="1400" i="1" dirty="0">
                <a:solidFill>
                  <a:schemeClr val="accent5"/>
                </a:solidFill>
              </a:rPr>
              <a:t>Example: Rs. 500 must not become Rs. 5000.</a:t>
            </a:r>
            <a:endParaRPr lang="en-US" sz="1400" dirty="0"/>
          </a:p>
        </p:txBody>
      </p:sp>
      <p:sp>
        <p:nvSpPr>
          <p:cNvPr id="15" name="Goal card 3"/>
          <p:cNvSpPr/>
          <p:nvPr/>
        </p:nvSpPr>
        <p:spPr>
          <a:xfrm>
            <a:off x="6126480" y="1280160"/>
            <a:ext cx="2560320" cy="2834640"/>
          </a:xfrm>
          <a:prstGeom prst="roundRect">
            <a:avLst>
              <a:gd name="adj" fmla="val 4286"/>
            </a:avLst>
          </a:prstGeom>
          <a:solidFill>
            <a:schemeClr val="bg2"/>
          </a:solidFill>
          <a:ln/>
        </p:spPr>
      </p:sp>
      <p:sp>
        <p:nvSpPr>
          <p:cNvPr id="16" name="Availability circle"/>
          <p:cNvSpPr/>
          <p:nvPr/>
        </p:nvSpPr>
        <p:spPr>
          <a:xfrm>
            <a:off x="6355080" y="1508760"/>
            <a:ext cx="731520" cy="731520"/>
          </a:xfrm>
          <a:prstGeom prst="ellipse">
            <a:avLst/>
          </a:prstGeom>
          <a:solidFill>
            <a:schemeClr val="accent3"/>
          </a:solidFill>
          <a:ln/>
        </p:spPr>
      </p:sp>
      <p:pic>
        <p:nvPicPr>
          <p:cNvPr id="17" name="Image 2" descr="Availability"/>
          <p:cNvPicPr>
            <a:picLocks noChangeAspect="1"/>
          </p:cNvPicPr>
          <p:nvPr/>
        </p:nvPicPr>
        <p:blipFill>
          <a:blip r:embed="rId5"/>
          <a:stretch>
            <a:fillRect/>
          </a:stretch>
        </p:blipFill>
        <p:spPr>
          <a:xfrm>
            <a:off x="6537960" y="1691640"/>
            <a:ext cx="365760" cy="365760"/>
          </a:xfrm>
          <a:prstGeom prst="rect">
            <a:avLst/>
          </a:prstGeom>
        </p:spPr>
      </p:pic>
      <p:sp>
        <p:nvSpPr>
          <p:cNvPr id="18" name="Text 13"/>
          <p:cNvSpPr txBox="1"/>
          <p:nvPr/>
        </p:nvSpPr>
        <p:spPr>
          <a:xfrm>
            <a:off x="6355080" y="2377440"/>
            <a:ext cx="2103120" cy="365760"/>
          </a:xfrm>
          <a:prstGeom prst="rect">
            <a:avLst/>
          </a:prstGeom>
          <a:noFill/>
          <a:ln/>
        </p:spPr>
        <p:txBody>
          <a:bodyPr wrap="square" lIns="0" tIns="0" rIns="0" bIns="0" rtlCol="0" anchor="t"/>
          <a:lstStyle/>
          <a:p>
            <a:pPr marL="0" indent="0">
              <a:buNone/>
            </a:pPr>
            <a:r>
              <a:rPr lang="en-US" sz="2000" b="1" dirty="0">
                <a:solidFill>
                  <a:schemeClr val="tx2"/>
                </a:solidFill>
              </a:rPr>
              <a:t>Availability</a:t>
            </a:r>
            <a:endParaRPr lang="en-US" sz="2000" dirty="0"/>
          </a:p>
        </p:txBody>
      </p:sp>
      <p:sp>
        <p:nvSpPr>
          <p:cNvPr id="19" name="Text 14"/>
          <p:cNvSpPr txBox="1"/>
          <p:nvPr/>
        </p:nvSpPr>
        <p:spPr>
          <a:xfrm>
            <a:off x="6355080" y="2788920"/>
            <a:ext cx="2103120" cy="640080"/>
          </a:xfrm>
          <a:prstGeom prst="rect">
            <a:avLst/>
          </a:prstGeom>
          <a:noFill/>
          <a:ln/>
        </p:spPr>
        <p:txBody>
          <a:bodyPr wrap="square" lIns="0" tIns="0" rIns="0" bIns="0" rtlCol="0" anchor="t"/>
          <a:lstStyle/>
          <a:p>
            <a:pPr marL="0" indent="0">
              <a:buNone/>
            </a:pPr>
            <a:r>
              <a:rPr lang="en-US" sz="1400" dirty="0">
                <a:solidFill>
                  <a:schemeClr val="tx1"/>
                </a:solidFill>
              </a:rPr>
              <a:t>Systems and data work whenever needed.</a:t>
            </a:r>
            <a:endParaRPr lang="en-US" sz="1400" dirty="0"/>
          </a:p>
        </p:txBody>
      </p:sp>
      <p:sp>
        <p:nvSpPr>
          <p:cNvPr id="20" name="Text 15"/>
          <p:cNvSpPr txBox="1"/>
          <p:nvPr/>
        </p:nvSpPr>
        <p:spPr>
          <a:xfrm>
            <a:off x="6355080" y="3474720"/>
            <a:ext cx="2103120" cy="548640"/>
          </a:xfrm>
          <a:prstGeom prst="rect">
            <a:avLst/>
          </a:prstGeom>
          <a:noFill/>
          <a:ln/>
        </p:spPr>
        <p:txBody>
          <a:bodyPr wrap="square" lIns="0" tIns="0" rIns="0" bIns="0" rtlCol="0" anchor="t"/>
          <a:lstStyle/>
          <a:p>
            <a:pPr marL="0" indent="0">
              <a:buNone/>
            </a:pPr>
            <a:r>
              <a:rPr lang="en-US" sz="1400" i="1" dirty="0">
                <a:solidFill>
                  <a:schemeClr val="accent5"/>
                </a:solidFill>
              </a:rPr>
              <a:t>Example: the website is up on exam day.</a:t>
            </a:r>
            <a:endParaRPr lang="en-US" sz="1400" dirty="0"/>
          </a:p>
        </p:txBody>
      </p:sp>
      <p:sp>
        <p:nvSpPr>
          <p:cNvPr id="21" name="Text 16"/>
          <p:cNvSpPr txBox="1"/>
          <p:nvPr/>
        </p:nvSpPr>
        <p:spPr>
          <a:xfrm>
            <a:off x="457200" y="4297680"/>
            <a:ext cx="8229600" cy="411480"/>
          </a:xfrm>
          <a:prstGeom prst="rect">
            <a:avLst/>
          </a:prstGeom>
          <a:noFill/>
          <a:ln/>
        </p:spPr>
        <p:txBody>
          <a:bodyPr wrap="square" lIns="0" tIns="0" rIns="0" bIns="0" rtlCol="0" anchor="t"/>
          <a:lstStyle/>
          <a:p>
            <a:pPr marL="0" indent="0">
              <a:buNone/>
            </a:pPr>
            <a:r>
              <a:rPr lang="en-US" sz="1400" dirty="0">
                <a:solidFill>
                  <a:schemeClr val="tx1"/>
                </a:solidFill>
              </a:rPr>
              <a:t>Together these three are called the CIA triad. Authentication and non-repudiation are often added as extra goals.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tx2"/>
                </a:solidFill>
              </a:rPr>
              <a:t>Threat, Vulnerability, Attack, Risk</a:t>
            </a:r>
            <a:endParaRPr lang="en-US" sz="3600" dirty="0"/>
          </a:p>
        </p:txBody>
      </p:sp>
      <p:sp>
        <p:nvSpPr>
          <p:cNvPr id="3" name="Term card 1"/>
          <p:cNvSpPr/>
          <p:nvPr/>
        </p:nvSpPr>
        <p:spPr>
          <a:xfrm>
            <a:off x="457200" y="1234440"/>
            <a:ext cx="3977640" cy="1325880"/>
          </a:xfrm>
          <a:prstGeom prst="roundRect">
            <a:avLst>
              <a:gd name="adj" fmla="val 8276"/>
            </a:avLst>
          </a:prstGeom>
          <a:solidFill>
            <a:schemeClr val="bg2"/>
          </a:solidFill>
          <a:ln/>
        </p:spPr>
      </p:sp>
      <p:sp>
        <p:nvSpPr>
          <p:cNvPr id="4" name="Threat circle"/>
          <p:cNvSpPr/>
          <p:nvPr/>
        </p:nvSpPr>
        <p:spPr>
          <a:xfrm>
            <a:off x="640080" y="1554480"/>
            <a:ext cx="685800" cy="685800"/>
          </a:xfrm>
          <a:prstGeom prst="ellipse">
            <a:avLst/>
          </a:prstGeom>
          <a:solidFill>
            <a:schemeClr val="accent3"/>
          </a:solidFill>
          <a:ln/>
        </p:spPr>
      </p:sp>
      <p:pic>
        <p:nvPicPr>
          <p:cNvPr id="5" name="Image 0" descr="Threat"/>
          <p:cNvPicPr>
            <a:picLocks noChangeAspect="1"/>
          </p:cNvPicPr>
          <p:nvPr/>
        </p:nvPicPr>
        <p:blipFill>
          <a:blip r:embed="rId3"/>
          <a:stretch>
            <a:fillRect/>
          </a:stretch>
        </p:blipFill>
        <p:spPr>
          <a:xfrm>
            <a:off x="811530" y="1725930"/>
            <a:ext cx="342900" cy="342900"/>
          </a:xfrm>
          <a:prstGeom prst="rect">
            <a:avLst/>
          </a:prstGeom>
        </p:spPr>
      </p:pic>
      <p:sp>
        <p:nvSpPr>
          <p:cNvPr id="6" name="Text 3"/>
          <p:cNvSpPr txBox="1"/>
          <p:nvPr/>
        </p:nvSpPr>
        <p:spPr>
          <a:xfrm>
            <a:off x="1554480" y="1344168"/>
            <a:ext cx="2743200" cy="320040"/>
          </a:xfrm>
          <a:prstGeom prst="rect">
            <a:avLst/>
          </a:prstGeom>
          <a:noFill/>
          <a:ln/>
        </p:spPr>
        <p:txBody>
          <a:bodyPr wrap="square" lIns="0" tIns="0" rIns="0" bIns="0" rtlCol="0" anchor="t"/>
          <a:lstStyle/>
          <a:p>
            <a:pPr marL="0" indent="0">
              <a:buNone/>
            </a:pPr>
            <a:r>
              <a:rPr lang="en-US" sz="1800" b="1" dirty="0">
                <a:solidFill>
                  <a:schemeClr val="tx2"/>
                </a:solidFill>
              </a:rPr>
              <a:t>Threat</a:t>
            </a:r>
            <a:endParaRPr lang="en-US" sz="1800" dirty="0"/>
          </a:p>
        </p:txBody>
      </p:sp>
      <p:sp>
        <p:nvSpPr>
          <p:cNvPr id="7" name="Text 4"/>
          <p:cNvSpPr txBox="1"/>
          <p:nvPr/>
        </p:nvSpPr>
        <p:spPr>
          <a:xfrm>
            <a:off x="1554480" y="1673352"/>
            <a:ext cx="2743200" cy="411480"/>
          </a:xfrm>
          <a:prstGeom prst="rect">
            <a:avLst/>
          </a:prstGeom>
          <a:noFill/>
          <a:ln/>
        </p:spPr>
        <p:txBody>
          <a:bodyPr wrap="square" lIns="0" tIns="0" rIns="0" bIns="0" rtlCol="0" anchor="t"/>
          <a:lstStyle/>
          <a:p>
            <a:pPr marL="0" indent="0">
              <a:buNone/>
            </a:pPr>
            <a:r>
              <a:rPr lang="en-US" sz="1400" dirty="0">
                <a:solidFill>
                  <a:schemeClr val="tx1"/>
                </a:solidFill>
              </a:rPr>
              <a:t>Anything that could cause harm.</a:t>
            </a:r>
            <a:endParaRPr lang="en-US" sz="1400" dirty="0"/>
          </a:p>
        </p:txBody>
      </p:sp>
      <p:sp>
        <p:nvSpPr>
          <p:cNvPr id="8" name="Text 5"/>
          <p:cNvSpPr txBox="1"/>
          <p:nvPr/>
        </p:nvSpPr>
        <p:spPr>
          <a:xfrm>
            <a:off x="1554480" y="2130552"/>
            <a:ext cx="2743200" cy="365760"/>
          </a:xfrm>
          <a:prstGeom prst="rect">
            <a:avLst/>
          </a:prstGeom>
          <a:noFill/>
          <a:ln/>
        </p:spPr>
        <p:txBody>
          <a:bodyPr wrap="square" lIns="0" tIns="0" rIns="0" bIns="0" rtlCol="0" anchor="t"/>
          <a:lstStyle/>
          <a:p>
            <a:pPr marL="0" indent="0">
              <a:buNone/>
            </a:pPr>
            <a:r>
              <a:rPr lang="en-US" sz="1200" i="1" dirty="0">
                <a:solidFill>
                  <a:schemeClr val="accent5"/>
                </a:solidFill>
              </a:rPr>
              <a:t>Home example: A thief is active in your area.</a:t>
            </a:r>
            <a:endParaRPr lang="en-US" sz="1200" dirty="0"/>
          </a:p>
        </p:txBody>
      </p:sp>
      <p:sp>
        <p:nvSpPr>
          <p:cNvPr id="9" name="Term card 2"/>
          <p:cNvSpPr/>
          <p:nvPr/>
        </p:nvSpPr>
        <p:spPr>
          <a:xfrm>
            <a:off x="4709160" y="1234440"/>
            <a:ext cx="3977640" cy="1325880"/>
          </a:xfrm>
          <a:prstGeom prst="roundRect">
            <a:avLst>
              <a:gd name="adj" fmla="val 8276"/>
            </a:avLst>
          </a:prstGeom>
          <a:solidFill>
            <a:schemeClr val="bg2"/>
          </a:solidFill>
          <a:ln/>
        </p:spPr>
      </p:sp>
      <p:sp>
        <p:nvSpPr>
          <p:cNvPr id="10" name="Vulnerability circle"/>
          <p:cNvSpPr/>
          <p:nvPr/>
        </p:nvSpPr>
        <p:spPr>
          <a:xfrm>
            <a:off x="4892040" y="1554480"/>
            <a:ext cx="685800" cy="685800"/>
          </a:xfrm>
          <a:prstGeom prst="ellipse">
            <a:avLst/>
          </a:prstGeom>
          <a:solidFill>
            <a:schemeClr val="accent4"/>
          </a:solidFill>
          <a:ln/>
        </p:spPr>
      </p:sp>
      <p:pic>
        <p:nvPicPr>
          <p:cNvPr id="11" name="Image 1" descr="Vulnerability"/>
          <p:cNvPicPr>
            <a:picLocks noChangeAspect="1"/>
          </p:cNvPicPr>
          <p:nvPr/>
        </p:nvPicPr>
        <p:blipFill>
          <a:blip r:embed="rId4"/>
          <a:stretch>
            <a:fillRect/>
          </a:stretch>
        </p:blipFill>
        <p:spPr>
          <a:xfrm>
            <a:off x="5063490" y="1725930"/>
            <a:ext cx="342900" cy="342900"/>
          </a:xfrm>
          <a:prstGeom prst="rect">
            <a:avLst/>
          </a:prstGeom>
        </p:spPr>
      </p:pic>
      <p:sp>
        <p:nvSpPr>
          <p:cNvPr id="12" name="Text 8"/>
          <p:cNvSpPr txBox="1"/>
          <p:nvPr/>
        </p:nvSpPr>
        <p:spPr>
          <a:xfrm>
            <a:off x="5806440" y="1344168"/>
            <a:ext cx="2743200" cy="320040"/>
          </a:xfrm>
          <a:prstGeom prst="rect">
            <a:avLst/>
          </a:prstGeom>
          <a:noFill/>
          <a:ln/>
        </p:spPr>
        <p:txBody>
          <a:bodyPr wrap="square" lIns="0" tIns="0" rIns="0" bIns="0" rtlCol="0" anchor="t"/>
          <a:lstStyle/>
          <a:p>
            <a:pPr marL="0" indent="0">
              <a:buNone/>
            </a:pPr>
            <a:r>
              <a:rPr lang="en-US" sz="1800" b="1" dirty="0">
                <a:solidFill>
                  <a:schemeClr val="tx2"/>
                </a:solidFill>
              </a:rPr>
              <a:t>Vulnerability</a:t>
            </a:r>
            <a:endParaRPr lang="en-US" sz="1800" dirty="0"/>
          </a:p>
        </p:txBody>
      </p:sp>
      <p:sp>
        <p:nvSpPr>
          <p:cNvPr id="13" name="Text 9"/>
          <p:cNvSpPr txBox="1"/>
          <p:nvPr/>
        </p:nvSpPr>
        <p:spPr>
          <a:xfrm>
            <a:off x="5806440" y="1673352"/>
            <a:ext cx="2743200" cy="411480"/>
          </a:xfrm>
          <a:prstGeom prst="rect">
            <a:avLst/>
          </a:prstGeom>
          <a:noFill/>
          <a:ln/>
        </p:spPr>
        <p:txBody>
          <a:bodyPr wrap="square" lIns="0" tIns="0" rIns="0" bIns="0" rtlCol="0" anchor="t"/>
          <a:lstStyle/>
          <a:p>
            <a:pPr marL="0" indent="0">
              <a:buNone/>
            </a:pPr>
            <a:r>
              <a:rPr lang="en-US" sz="1400" dirty="0">
                <a:solidFill>
                  <a:schemeClr val="tx1"/>
                </a:solidFill>
              </a:rPr>
              <a:t>A weakness in a system.</a:t>
            </a:r>
            <a:endParaRPr lang="en-US" sz="1400" dirty="0"/>
          </a:p>
        </p:txBody>
      </p:sp>
      <p:sp>
        <p:nvSpPr>
          <p:cNvPr id="14" name="Text 10"/>
          <p:cNvSpPr txBox="1"/>
          <p:nvPr/>
        </p:nvSpPr>
        <p:spPr>
          <a:xfrm>
            <a:off x="5806440" y="2130552"/>
            <a:ext cx="2743200" cy="365760"/>
          </a:xfrm>
          <a:prstGeom prst="rect">
            <a:avLst/>
          </a:prstGeom>
          <a:noFill/>
          <a:ln/>
        </p:spPr>
        <p:txBody>
          <a:bodyPr wrap="square" lIns="0" tIns="0" rIns="0" bIns="0" rtlCol="0" anchor="t"/>
          <a:lstStyle/>
          <a:p>
            <a:pPr marL="0" indent="0">
              <a:buNone/>
            </a:pPr>
            <a:r>
              <a:rPr lang="en-US" sz="1200" i="1" dirty="0">
                <a:solidFill>
                  <a:schemeClr val="accent5"/>
                </a:solidFill>
              </a:rPr>
              <a:t>Home example: The door lock is broken.</a:t>
            </a:r>
            <a:endParaRPr lang="en-US" sz="1200" dirty="0"/>
          </a:p>
        </p:txBody>
      </p:sp>
      <p:sp>
        <p:nvSpPr>
          <p:cNvPr id="15" name="Term card 3"/>
          <p:cNvSpPr/>
          <p:nvPr/>
        </p:nvSpPr>
        <p:spPr>
          <a:xfrm>
            <a:off x="457200" y="2697480"/>
            <a:ext cx="3977640" cy="1325880"/>
          </a:xfrm>
          <a:prstGeom prst="roundRect">
            <a:avLst>
              <a:gd name="adj" fmla="val 8276"/>
            </a:avLst>
          </a:prstGeom>
          <a:solidFill>
            <a:schemeClr val="bg2"/>
          </a:solidFill>
          <a:ln/>
        </p:spPr>
      </p:sp>
      <p:sp>
        <p:nvSpPr>
          <p:cNvPr id="16" name="Attack circle"/>
          <p:cNvSpPr/>
          <p:nvPr/>
        </p:nvSpPr>
        <p:spPr>
          <a:xfrm>
            <a:off x="640080" y="3017520"/>
            <a:ext cx="685800" cy="685800"/>
          </a:xfrm>
          <a:prstGeom prst="ellipse">
            <a:avLst/>
          </a:prstGeom>
          <a:solidFill>
            <a:schemeClr val="accent1"/>
          </a:solidFill>
          <a:ln/>
        </p:spPr>
      </p:sp>
      <p:pic>
        <p:nvPicPr>
          <p:cNvPr id="17" name="Image 2" descr="Attack"/>
          <p:cNvPicPr>
            <a:picLocks noChangeAspect="1"/>
          </p:cNvPicPr>
          <p:nvPr/>
        </p:nvPicPr>
        <p:blipFill>
          <a:blip r:embed="rId5"/>
          <a:stretch>
            <a:fillRect/>
          </a:stretch>
        </p:blipFill>
        <p:spPr>
          <a:xfrm>
            <a:off x="811530" y="3188970"/>
            <a:ext cx="342900" cy="342900"/>
          </a:xfrm>
          <a:prstGeom prst="rect">
            <a:avLst/>
          </a:prstGeom>
        </p:spPr>
      </p:pic>
      <p:sp>
        <p:nvSpPr>
          <p:cNvPr id="18" name="Text 13"/>
          <p:cNvSpPr txBox="1"/>
          <p:nvPr/>
        </p:nvSpPr>
        <p:spPr>
          <a:xfrm>
            <a:off x="1554480" y="2807208"/>
            <a:ext cx="2743200" cy="320040"/>
          </a:xfrm>
          <a:prstGeom prst="rect">
            <a:avLst/>
          </a:prstGeom>
          <a:noFill/>
          <a:ln/>
        </p:spPr>
        <p:txBody>
          <a:bodyPr wrap="square" lIns="0" tIns="0" rIns="0" bIns="0" rtlCol="0" anchor="t"/>
          <a:lstStyle/>
          <a:p>
            <a:pPr marL="0" indent="0">
              <a:buNone/>
            </a:pPr>
            <a:r>
              <a:rPr lang="en-US" sz="1800" b="1" dirty="0">
                <a:solidFill>
                  <a:schemeClr val="tx2"/>
                </a:solidFill>
              </a:rPr>
              <a:t>Attack</a:t>
            </a:r>
            <a:endParaRPr lang="en-US" sz="1800" dirty="0"/>
          </a:p>
        </p:txBody>
      </p:sp>
      <p:sp>
        <p:nvSpPr>
          <p:cNvPr id="19" name="Text 14"/>
          <p:cNvSpPr txBox="1"/>
          <p:nvPr/>
        </p:nvSpPr>
        <p:spPr>
          <a:xfrm>
            <a:off x="1554480" y="3136392"/>
            <a:ext cx="2743200" cy="411480"/>
          </a:xfrm>
          <a:prstGeom prst="rect">
            <a:avLst/>
          </a:prstGeom>
          <a:noFill/>
          <a:ln/>
        </p:spPr>
        <p:txBody>
          <a:bodyPr wrap="square" lIns="0" tIns="0" rIns="0" bIns="0" rtlCol="0" anchor="t"/>
          <a:lstStyle/>
          <a:p>
            <a:pPr marL="0" indent="0">
              <a:buNone/>
            </a:pPr>
            <a:r>
              <a:rPr lang="en-US" sz="1400" dirty="0">
                <a:solidFill>
                  <a:schemeClr val="tx1"/>
                </a:solidFill>
              </a:rPr>
              <a:t>Actual attempt to exploit a weakness.</a:t>
            </a:r>
            <a:endParaRPr lang="en-US" sz="1400" dirty="0"/>
          </a:p>
        </p:txBody>
      </p:sp>
      <p:sp>
        <p:nvSpPr>
          <p:cNvPr id="20" name="Text 15"/>
          <p:cNvSpPr txBox="1"/>
          <p:nvPr/>
        </p:nvSpPr>
        <p:spPr>
          <a:xfrm>
            <a:off x="1554480" y="3593592"/>
            <a:ext cx="2743200" cy="365760"/>
          </a:xfrm>
          <a:prstGeom prst="rect">
            <a:avLst/>
          </a:prstGeom>
          <a:noFill/>
          <a:ln/>
        </p:spPr>
        <p:txBody>
          <a:bodyPr wrap="square" lIns="0" tIns="0" rIns="0" bIns="0" rtlCol="0" anchor="t"/>
          <a:lstStyle/>
          <a:p>
            <a:pPr marL="0" indent="0">
              <a:buNone/>
            </a:pPr>
            <a:r>
              <a:rPr lang="en-US" sz="1200" i="1" dirty="0">
                <a:solidFill>
                  <a:schemeClr val="accent5"/>
                </a:solidFill>
              </a:rPr>
              <a:t>Home example: Thief enters through that door.</a:t>
            </a:r>
            <a:endParaRPr lang="en-US" sz="1200" dirty="0"/>
          </a:p>
        </p:txBody>
      </p:sp>
      <p:sp>
        <p:nvSpPr>
          <p:cNvPr id="21" name="Term card 4"/>
          <p:cNvSpPr/>
          <p:nvPr/>
        </p:nvSpPr>
        <p:spPr>
          <a:xfrm>
            <a:off x="4709160" y="2697480"/>
            <a:ext cx="3977640" cy="1325880"/>
          </a:xfrm>
          <a:prstGeom prst="roundRect">
            <a:avLst>
              <a:gd name="adj" fmla="val 8276"/>
            </a:avLst>
          </a:prstGeom>
          <a:solidFill>
            <a:schemeClr val="bg2"/>
          </a:solidFill>
          <a:ln/>
        </p:spPr>
      </p:sp>
      <p:sp>
        <p:nvSpPr>
          <p:cNvPr id="22" name="Risk circle"/>
          <p:cNvSpPr/>
          <p:nvPr/>
        </p:nvSpPr>
        <p:spPr>
          <a:xfrm>
            <a:off x="4892040" y="3017520"/>
            <a:ext cx="685800" cy="685800"/>
          </a:xfrm>
          <a:prstGeom prst="ellipse">
            <a:avLst/>
          </a:prstGeom>
          <a:solidFill>
            <a:schemeClr val="accent2"/>
          </a:solidFill>
          <a:ln/>
        </p:spPr>
      </p:sp>
      <p:pic>
        <p:nvPicPr>
          <p:cNvPr id="23" name="Image 3" descr="Risk"/>
          <p:cNvPicPr>
            <a:picLocks noChangeAspect="1"/>
          </p:cNvPicPr>
          <p:nvPr/>
        </p:nvPicPr>
        <p:blipFill>
          <a:blip r:embed="rId6"/>
          <a:stretch>
            <a:fillRect/>
          </a:stretch>
        </p:blipFill>
        <p:spPr>
          <a:xfrm>
            <a:off x="5063490" y="3188970"/>
            <a:ext cx="342900" cy="342900"/>
          </a:xfrm>
          <a:prstGeom prst="rect">
            <a:avLst/>
          </a:prstGeom>
        </p:spPr>
      </p:pic>
      <p:sp>
        <p:nvSpPr>
          <p:cNvPr id="24" name="Text 18"/>
          <p:cNvSpPr txBox="1"/>
          <p:nvPr/>
        </p:nvSpPr>
        <p:spPr>
          <a:xfrm>
            <a:off x="5806440" y="2807208"/>
            <a:ext cx="2743200" cy="320040"/>
          </a:xfrm>
          <a:prstGeom prst="rect">
            <a:avLst/>
          </a:prstGeom>
          <a:noFill/>
          <a:ln/>
        </p:spPr>
        <p:txBody>
          <a:bodyPr wrap="square" lIns="0" tIns="0" rIns="0" bIns="0" rtlCol="0" anchor="t"/>
          <a:lstStyle/>
          <a:p>
            <a:pPr marL="0" indent="0">
              <a:buNone/>
            </a:pPr>
            <a:r>
              <a:rPr lang="en-US" sz="1800" b="1" dirty="0">
                <a:solidFill>
                  <a:schemeClr val="tx2"/>
                </a:solidFill>
              </a:rPr>
              <a:t>Risk</a:t>
            </a:r>
            <a:endParaRPr lang="en-US" sz="1800" dirty="0"/>
          </a:p>
        </p:txBody>
      </p:sp>
      <p:sp>
        <p:nvSpPr>
          <p:cNvPr id="25" name="Text 19"/>
          <p:cNvSpPr txBox="1"/>
          <p:nvPr/>
        </p:nvSpPr>
        <p:spPr>
          <a:xfrm>
            <a:off x="5806440" y="3136392"/>
            <a:ext cx="2743200" cy="411480"/>
          </a:xfrm>
          <a:prstGeom prst="rect">
            <a:avLst/>
          </a:prstGeom>
          <a:noFill/>
          <a:ln/>
        </p:spPr>
        <p:txBody>
          <a:bodyPr wrap="square" lIns="0" tIns="0" rIns="0" bIns="0" rtlCol="0" anchor="t"/>
          <a:lstStyle/>
          <a:p>
            <a:pPr marL="0" indent="0">
              <a:buNone/>
            </a:pPr>
            <a:r>
              <a:rPr lang="en-US" sz="1400" dirty="0">
                <a:solidFill>
                  <a:schemeClr val="tx1"/>
                </a:solidFill>
              </a:rPr>
              <a:t>Chance of loss times the damage.</a:t>
            </a:r>
            <a:endParaRPr lang="en-US" sz="1400" dirty="0"/>
          </a:p>
        </p:txBody>
      </p:sp>
      <p:sp>
        <p:nvSpPr>
          <p:cNvPr id="26" name="Text 20"/>
          <p:cNvSpPr txBox="1"/>
          <p:nvPr/>
        </p:nvSpPr>
        <p:spPr>
          <a:xfrm>
            <a:off x="5806440" y="3593592"/>
            <a:ext cx="2743200" cy="365760"/>
          </a:xfrm>
          <a:prstGeom prst="rect">
            <a:avLst/>
          </a:prstGeom>
          <a:noFill/>
          <a:ln/>
        </p:spPr>
        <p:txBody>
          <a:bodyPr wrap="square" lIns="0" tIns="0" rIns="0" bIns="0" rtlCol="0" anchor="t"/>
          <a:lstStyle/>
          <a:p>
            <a:pPr marL="0" indent="0">
              <a:buNone/>
            </a:pPr>
            <a:r>
              <a:rPr lang="en-US" sz="1200" i="1" dirty="0">
                <a:solidFill>
                  <a:schemeClr val="accent5"/>
                </a:solidFill>
              </a:rPr>
              <a:t>Home example: How likely and costly a break-in is.</a:t>
            </a:r>
            <a:endParaRPr lang="en-US" sz="1200" dirty="0"/>
          </a:p>
        </p:txBody>
      </p:sp>
      <p:sp>
        <p:nvSpPr>
          <p:cNvPr id="27" name="Formula bar"/>
          <p:cNvSpPr/>
          <p:nvPr/>
        </p:nvSpPr>
        <p:spPr>
          <a:xfrm>
            <a:off x="457200" y="4251960"/>
            <a:ext cx="8229600" cy="457200"/>
          </a:xfrm>
          <a:prstGeom prst="roundRect">
            <a:avLst>
              <a:gd name="adj" fmla="val 20000"/>
            </a:avLst>
          </a:prstGeom>
          <a:solidFill>
            <a:schemeClr val="tx2"/>
          </a:solidFill>
          <a:ln/>
        </p:spPr>
      </p:sp>
      <p:sp>
        <p:nvSpPr>
          <p:cNvPr id="28" name="Text 22"/>
          <p:cNvSpPr txBox="1"/>
          <p:nvPr/>
        </p:nvSpPr>
        <p:spPr>
          <a:xfrm>
            <a:off x="457200" y="4251960"/>
            <a:ext cx="8229600" cy="457200"/>
          </a:xfrm>
          <a:prstGeom prst="rect">
            <a:avLst/>
          </a:prstGeom>
          <a:noFill/>
          <a:ln/>
        </p:spPr>
        <p:txBody>
          <a:bodyPr wrap="square" lIns="0" tIns="0" rIns="0" bIns="0" rtlCol="0" anchor="ctr"/>
          <a:lstStyle/>
          <a:p>
            <a:pPr marL="0" indent="0" algn="ctr">
              <a:buNone/>
            </a:pPr>
            <a:r>
              <a:rPr lang="en-US" sz="1800" b="1" dirty="0">
                <a:solidFill>
                  <a:schemeClr val="bg1"/>
                </a:solidFill>
              </a:rPr>
              <a:t>Risk  =  Threat  x  Vulnerability  x  Impact</a:t>
            </a:r>
            <a:endParaRPr lang="en-US" sz="1800" dirty="0"/>
          </a:p>
        </p:txBody>
      </p:sp>
      <p:sp>
        <p:nvSpPr>
          <p:cNvPr id="29"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tx2"/>
                </a:solidFill>
              </a:rPr>
              <a:t>Common Security Threats</a:t>
            </a:r>
            <a:endParaRPr lang="en-US" sz="3600" dirty="0"/>
          </a:p>
        </p:txBody>
      </p:sp>
      <p:sp>
        <p:nvSpPr>
          <p:cNvPr id="3" name="Threat card 1"/>
          <p:cNvSpPr/>
          <p:nvPr/>
        </p:nvSpPr>
        <p:spPr>
          <a:xfrm>
            <a:off x="457200" y="1280160"/>
            <a:ext cx="2560320" cy="2926080"/>
          </a:xfrm>
          <a:prstGeom prst="roundRect">
            <a:avLst>
              <a:gd name="adj" fmla="val 4286"/>
            </a:avLst>
          </a:prstGeom>
          <a:solidFill>
            <a:schemeClr val="bg2"/>
          </a:solidFill>
          <a:ln/>
        </p:spPr>
      </p:sp>
      <p:sp>
        <p:nvSpPr>
          <p:cNvPr id="4" name="Human circle"/>
          <p:cNvSpPr/>
          <p:nvPr/>
        </p:nvSpPr>
        <p:spPr>
          <a:xfrm>
            <a:off x="685800" y="1508760"/>
            <a:ext cx="731520" cy="731520"/>
          </a:xfrm>
          <a:prstGeom prst="ellipse">
            <a:avLst/>
          </a:prstGeom>
          <a:solidFill>
            <a:schemeClr val="accent1"/>
          </a:solidFill>
          <a:ln/>
        </p:spPr>
      </p:sp>
      <p:pic>
        <p:nvPicPr>
          <p:cNvPr id="5" name="Image 0" descr="Human"/>
          <p:cNvPicPr>
            <a:picLocks noChangeAspect="1"/>
          </p:cNvPicPr>
          <p:nvPr/>
        </p:nvPicPr>
        <p:blipFill>
          <a:blip r:embed="rId3"/>
          <a:stretch>
            <a:fillRect/>
          </a:stretch>
        </p:blipFill>
        <p:spPr>
          <a:xfrm>
            <a:off x="868680" y="1691640"/>
            <a:ext cx="365760" cy="365760"/>
          </a:xfrm>
          <a:prstGeom prst="rect">
            <a:avLst/>
          </a:prstGeom>
        </p:spPr>
      </p:pic>
      <p:sp>
        <p:nvSpPr>
          <p:cNvPr id="6" name="Text 3"/>
          <p:cNvSpPr txBox="1"/>
          <p:nvPr/>
        </p:nvSpPr>
        <p:spPr>
          <a:xfrm>
            <a:off x="1554480" y="1691640"/>
            <a:ext cx="1371600" cy="365760"/>
          </a:xfrm>
          <a:prstGeom prst="rect">
            <a:avLst/>
          </a:prstGeom>
          <a:noFill/>
          <a:ln/>
        </p:spPr>
        <p:txBody>
          <a:bodyPr wrap="square" lIns="0" tIns="0" rIns="0" bIns="0" rtlCol="0" anchor="ctr"/>
          <a:lstStyle/>
          <a:p>
            <a:pPr marL="0" indent="0">
              <a:buNone/>
            </a:pPr>
            <a:r>
              <a:rPr lang="en-US" sz="2000" b="1" dirty="0">
                <a:solidFill>
                  <a:schemeClr val="tx2"/>
                </a:solidFill>
              </a:rPr>
              <a:t>Human</a:t>
            </a:r>
            <a:endParaRPr lang="en-US" sz="2000" dirty="0"/>
          </a:p>
        </p:txBody>
      </p:sp>
      <p:sp>
        <p:nvSpPr>
          <p:cNvPr id="7" name="Text 4"/>
          <p:cNvSpPr txBox="1"/>
          <p:nvPr/>
        </p:nvSpPr>
        <p:spPr>
          <a:xfrm>
            <a:off x="685800" y="2514600"/>
            <a:ext cx="2148840" cy="17373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Hackers and criminals</a:t>
            </a:r>
            <a:endParaRPr lang="en-US" sz="1400" dirty="0"/>
          </a:p>
          <a:p>
            <a:pPr marL="342900" indent="-342900">
              <a:spcAft>
                <a:spcPts val="1000"/>
              </a:spcAft>
              <a:buSzPct val="100000"/>
              <a:buChar char="•"/>
            </a:pPr>
            <a:r>
              <a:rPr lang="en-US" sz="1400" dirty="0">
                <a:solidFill>
                  <a:schemeClr val="tx1"/>
                </a:solidFill>
              </a:rPr>
              <a:t>Insiders misusing access</a:t>
            </a:r>
            <a:endParaRPr lang="en-US" sz="1400" dirty="0"/>
          </a:p>
          <a:p>
            <a:pPr marL="342900" indent="-342900">
              <a:spcAft>
                <a:spcPts val="1000"/>
              </a:spcAft>
              <a:buSzPct val="100000"/>
              <a:buChar char="•"/>
            </a:pPr>
            <a:r>
              <a:rPr lang="en-US" sz="1400" dirty="0">
                <a:solidFill>
                  <a:schemeClr val="tx1"/>
                </a:solidFill>
              </a:rPr>
              <a:t>Phishing and social engineering</a:t>
            </a:r>
            <a:endParaRPr lang="en-US" sz="1400" dirty="0"/>
          </a:p>
        </p:txBody>
      </p:sp>
      <p:sp>
        <p:nvSpPr>
          <p:cNvPr id="8" name="Threat card 2"/>
          <p:cNvSpPr/>
          <p:nvPr/>
        </p:nvSpPr>
        <p:spPr>
          <a:xfrm>
            <a:off x="3291840" y="1280160"/>
            <a:ext cx="2560320" cy="2926080"/>
          </a:xfrm>
          <a:prstGeom prst="roundRect">
            <a:avLst>
              <a:gd name="adj" fmla="val 4286"/>
            </a:avLst>
          </a:prstGeom>
          <a:solidFill>
            <a:schemeClr val="bg2"/>
          </a:solidFill>
          <a:ln/>
        </p:spPr>
      </p:sp>
      <p:sp>
        <p:nvSpPr>
          <p:cNvPr id="9" name="Software circle"/>
          <p:cNvSpPr/>
          <p:nvPr/>
        </p:nvSpPr>
        <p:spPr>
          <a:xfrm>
            <a:off x="3520440" y="1508760"/>
            <a:ext cx="731520" cy="731520"/>
          </a:xfrm>
          <a:prstGeom prst="ellipse">
            <a:avLst/>
          </a:prstGeom>
          <a:solidFill>
            <a:schemeClr val="accent4"/>
          </a:solidFill>
          <a:ln/>
        </p:spPr>
      </p:sp>
      <p:pic>
        <p:nvPicPr>
          <p:cNvPr id="10" name="Image 1" descr="Software"/>
          <p:cNvPicPr>
            <a:picLocks noChangeAspect="1"/>
          </p:cNvPicPr>
          <p:nvPr/>
        </p:nvPicPr>
        <p:blipFill>
          <a:blip r:embed="rId4"/>
          <a:stretch>
            <a:fillRect/>
          </a:stretch>
        </p:blipFill>
        <p:spPr>
          <a:xfrm>
            <a:off x="3703320" y="1691640"/>
            <a:ext cx="365760" cy="365760"/>
          </a:xfrm>
          <a:prstGeom prst="rect">
            <a:avLst/>
          </a:prstGeom>
        </p:spPr>
      </p:pic>
      <p:sp>
        <p:nvSpPr>
          <p:cNvPr id="11" name="Text 7"/>
          <p:cNvSpPr txBox="1"/>
          <p:nvPr/>
        </p:nvSpPr>
        <p:spPr>
          <a:xfrm>
            <a:off x="4389120" y="1691640"/>
            <a:ext cx="1371600" cy="365760"/>
          </a:xfrm>
          <a:prstGeom prst="rect">
            <a:avLst/>
          </a:prstGeom>
          <a:noFill/>
          <a:ln/>
        </p:spPr>
        <p:txBody>
          <a:bodyPr wrap="square" lIns="0" tIns="0" rIns="0" bIns="0" rtlCol="0" anchor="ctr"/>
          <a:lstStyle/>
          <a:p>
            <a:pPr marL="0" indent="0">
              <a:buNone/>
            </a:pPr>
            <a:r>
              <a:rPr lang="en-US" sz="2000" b="1" dirty="0">
                <a:solidFill>
                  <a:schemeClr val="tx2"/>
                </a:solidFill>
              </a:rPr>
              <a:t>Software</a:t>
            </a:r>
            <a:endParaRPr lang="en-US" sz="2000" dirty="0"/>
          </a:p>
        </p:txBody>
      </p:sp>
      <p:sp>
        <p:nvSpPr>
          <p:cNvPr id="12" name="Text 8"/>
          <p:cNvSpPr txBox="1"/>
          <p:nvPr/>
        </p:nvSpPr>
        <p:spPr>
          <a:xfrm>
            <a:off x="3520440" y="2514600"/>
            <a:ext cx="2148840" cy="17373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Viruses, worms, ransomware</a:t>
            </a:r>
            <a:endParaRPr lang="en-US" sz="1400" dirty="0"/>
          </a:p>
          <a:p>
            <a:pPr marL="342900" indent="-342900">
              <a:spcAft>
                <a:spcPts val="1000"/>
              </a:spcAft>
              <a:buSzPct val="100000"/>
              <a:buChar char="•"/>
            </a:pPr>
            <a:r>
              <a:rPr lang="en-US" sz="1400" dirty="0">
                <a:solidFill>
                  <a:schemeClr val="tx1"/>
                </a:solidFill>
              </a:rPr>
              <a:t>Unpatched software bugs</a:t>
            </a:r>
            <a:endParaRPr lang="en-US" sz="1400" dirty="0"/>
          </a:p>
          <a:p>
            <a:pPr marL="342900" indent="-342900">
              <a:spcAft>
                <a:spcPts val="1000"/>
              </a:spcAft>
              <a:buSzPct val="100000"/>
              <a:buChar char="•"/>
            </a:pPr>
            <a:r>
              <a:rPr lang="en-US" sz="1400" dirty="0">
                <a:solidFill>
                  <a:schemeClr val="tx1"/>
                </a:solidFill>
              </a:rPr>
              <a:t>Weak or reused passwords</a:t>
            </a:r>
            <a:endParaRPr lang="en-US" sz="1400" dirty="0"/>
          </a:p>
        </p:txBody>
      </p:sp>
      <p:sp>
        <p:nvSpPr>
          <p:cNvPr id="13" name="Threat card 3"/>
          <p:cNvSpPr/>
          <p:nvPr/>
        </p:nvSpPr>
        <p:spPr>
          <a:xfrm>
            <a:off x="6126480" y="1280160"/>
            <a:ext cx="2560320" cy="2926080"/>
          </a:xfrm>
          <a:prstGeom prst="roundRect">
            <a:avLst>
              <a:gd name="adj" fmla="val 4286"/>
            </a:avLst>
          </a:prstGeom>
          <a:solidFill>
            <a:schemeClr val="bg2"/>
          </a:solidFill>
          <a:ln/>
        </p:spPr>
      </p:sp>
      <p:sp>
        <p:nvSpPr>
          <p:cNvPr id="14" name="Environment circle"/>
          <p:cNvSpPr/>
          <p:nvPr/>
        </p:nvSpPr>
        <p:spPr>
          <a:xfrm>
            <a:off x="6355080" y="1508760"/>
            <a:ext cx="731520" cy="731520"/>
          </a:xfrm>
          <a:prstGeom prst="ellipse">
            <a:avLst/>
          </a:prstGeom>
          <a:solidFill>
            <a:schemeClr val="accent3"/>
          </a:solidFill>
          <a:ln/>
        </p:spPr>
      </p:sp>
      <p:pic>
        <p:nvPicPr>
          <p:cNvPr id="15" name="Image 2" descr="Environment"/>
          <p:cNvPicPr>
            <a:picLocks noChangeAspect="1"/>
          </p:cNvPicPr>
          <p:nvPr/>
        </p:nvPicPr>
        <p:blipFill>
          <a:blip r:embed="rId5"/>
          <a:stretch>
            <a:fillRect/>
          </a:stretch>
        </p:blipFill>
        <p:spPr>
          <a:xfrm>
            <a:off x="6537960" y="1691640"/>
            <a:ext cx="365760" cy="365760"/>
          </a:xfrm>
          <a:prstGeom prst="rect">
            <a:avLst/>
          </a:prstGeom>
        </p:spPr>
      </p:pic>
      <p:sp>
        <p:nvSpPr>
          <p:cNvPr id="16" name="Text 11"/>
          <p:cNvSpPr txBox="1"/>
          <p:nvPr/>
        </p:nvSpPr>
        <p:spPr>
          <a:xfrm>
            <a:off x="7223760" y="1691640"/>
            <a:ext cx="1371600" cy="365760"/>
          </a:xfrm>
          <a:prstGeom prst="rect">
            <a:avLst/>
          </a:prstGeom>
          <a:noFill/>
          <a:ln/>
        </p:spPr>
        <p:txBody>
          <a:bodyPr wrap="square" lIns="0" tIns="0" rIns="0" bIns="0" rtlCol="0" anchor="ctr"/>
          <a:lstStyle/>
          <a:p>
            <a:pPr marL="0" indent="0">
              <a:buNone/>
            </a:pPr>
            <a:r>
              <a:rPr lang="en-US" sz="2000" b="1" dirty="0">
                <a:solidFill>
                  <a:schemeClr val="tx2"/>
                </a:solidFill>
              </a:rPr>
              <a:t>Environment</a:t>
            </a:r>
            <a:endParaRPr lang="en-US" sz="2000" dirty="0"/>
          </a:p>
        </p:txBody>
      </p:sp>
      <p:sp>
        <p:nvSpPr>
          <p:cNvPr id="17" name="Text 12"/>
          <p:cNvSpPr txBox="1"/>
          <p:nvPr/>
        </p:nvSpPr>
        <p:spPr>
          <a:xfrm>
            <a:off x="6355080" y="2514600"/>
            <a:ext cx="2148840" cy="17373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Fire, flood, earthquake</a:t>
            </a:r>
            <a:endParaRPr lang="en-US" sz="1400" dirty="0"/>
          </a:p>
          <a:p>
            <a:pPr marL="342900" indent="-342900">
              <a:spcAft>
                <a:spcPts val="1000"/>
              </a:spcAft>
              <a:buSzPct val="100000"/>
              <a:buChar char="•"/>
            </a:pPr>
            <a:r>
              <a:rPr lang="en-US" sz="1400" dirty="0">
                <a:solidFill>
                  <a:schemeClr val="tx1"/>
                </a:solidFill>
              </a:rPr>
              <a:t>Power failure</a:t>
            </a:r>
            <a:endParaRPr lang="en-US" sz="1400" dirty="0"/>
          </a:p>
          <a:p>
            <a:pPr marL="342900" indent="-342900">
              <a:spcAft>
                <a:spcPts val="1000"/>
              </a:spcAft>
              <a:buSzPct val="100000"/>
              <a:buChar char="•"/>
            </a:pPr>
            <a:r>
              <a:rPr lang="en-US" sz="1400" dirty="0">
                <a:solidFill>
                  <a:schemeClr val="tx1"/>
                </a:solidFill>
              </a:rPr>
              <a:t>Hardware breakdown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tx2"/>
                </a:solidFill>
              </a:rPr>
              <a:t>Two Kinds of Attacks</a:t>
            </a:r>
            <a:endParaRPr lang="en-US" sz="3600" dirty="0"/>
          </a:p>
        </p:txBody>
      </p:sp>
      <p:sp>
        <p:nvSpPr>
          <p:cNvPr id="3" name="Passive Attack"/>
          <p:cNvSpPr/>
          <p:nvPr/>
        </p:nvSpPr>
        <p:spPr>
          <a:xfrm>
            <a:off x="457200" y="1280160"/>
            <a:ext cx="3977640" cy="3108960"/>
          </a:xfrm>
          <a:prstGeom prst="roundRect">
            <a:avLst>
              <a:gd name="adj" fmla="val 3529"/>
            </a:avLst>
          </a:prstGeom>
          <a:solidFill>
            <a:schemeClr val="bg2"/>
          </a:solidFill>
          <a:ln/>
        </p:spPr>
      </p:sp>
      <p:sp>
        <p:nvSpPr>
          <p:cNvPr id="4" name="Passive Attack circle"/>
          <p:cNvSpPr/>
          <p:nvPr/>
        </p:nvSpPr>
        <p:spPr>
          <a:xfrm>
            <a:off x="731520" y="1508760"/>
            <a:ext cx="777240" cy="777240"/>
          </a:xfrm>
          <a:prstGeom prst="ellipse">
            <a:avLst/>
          </a:prstGeom>
          <a:solidFill>
            <a:schemeClr val="accent2"/>
          </a:solidFill>
          <a:ln/>
        </p:spPr>
      </p:sp>
      <p:pic>
        <p:nvPicPr>
          <p:cNvPr id="5" name="Image 0" descr="Passive Attack"/>
          <p:cNvPicPr>
            <a:picLocks noChangeAspect="1"/>
          </p:cNvPicPr>
          <p:nvPr/>
        </p:nvPicPr>
        <p:blipFill>
          <a:blip r:embed="rId3"/>
          <a:stretch>
            <a:fillRect/>
          </a:stretch>
        </p:blipFill>
        <p:spPr>
          <a:xfrm>
            <a:off x="925830" y="1703070"/>
            <a:ext cx="388620" cy="388620"/>
          </a:xfrm>
          <a:prstGeom prst="rect">
            <a:avLst/>
          </a:prstGeom>
        </p:spPr>
      </p:pic>
      <p:sp>
        <p:nvSpPr>
          <p:cNvPr id="6" name="Text 3"/>
          <p:cNvSpPr txBox="1"/>
          <p:nvPr/>
        </p:nvSpPr>
        <p:spPr>
          <a:xfrm>
            <a:off x="1737360" y="1691640"/>
            <a:ext cx="2560320" cy="411480"/>
          </a:xfrm>
          <a:prstGeom prst="rect">
            <a:avLst/>
          </a:prstGeom>
          <a:noFill/>
          <a:ln/>
        </p:spPr>
        <p:txBody>
          <a:bodyPr wrap="square" lIns="0" tIns="0" rIns="0" bIns="0" rtlCol="0" anchor="ctr"/>
          <a:lstStyle/>
          <a:p>
            <a:pPr marL="0" indent="0">
              <a:buNone/>
            </a:pPr>
            <a:r>
              <a:rPr lang="en-US" sz="2200" b="1" dirty="0">
                <a:solidFill>
                  <a:schemeClr val="tx2"/>
                </a:solidFill>
              </a:rPr>
              <a:t>Passive Attack</a:t>
            </a:r>
            <a:endParaRPr lang="en-US" sz="2200" dirty="0"/>
          </a:p>
        </p:txBody>
      </p:sp>
      <p:sp>
        <p:nvSpPr>
          <p:cNvPr id="7" name="Text 4"/>
          <p:cNvSpPr txBox="1"/>
          <p:nvPr/>
        </p:nvSpPr>
        <p:spPr>
          <a:xfrm>
            <a:off x="777240" y="2514600"/>
            <a:ext cx="3383280" cy="1737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Only watches or listens</a:t>
            </a:r>
            <a:endParaRPr lang="en-US" sz="1600" dirty="0"/>
          </a:p>
          <a:p>
            <a:pPr marL="342900" indent="-342900">
              <a:spcAft>
                <a:spcPts val="800"/>
              </a:spcAft>
              <a:buSzPct val="100000"/>
              <a:buChar char="•"/>
            </a:pPr>
            <a:r>
              <a:rPr lang="en-US" sz="1600" dirty="0">
                <a:solidFill>
                  <a:schemeClr val="tx1"/>
                </a:solidFill>
              </a:rPr>
              <a:t>Data is not changed</a:t>
            </a:r>
            <a:endParaRPr lang="en-US" sz="1600" dirty="0"/>
          </a:p>
          <a:p>
            <a:pPr marL="342900" indent="-342900">
              <a:spcAft>
                <a:spcPts val="800"/>
              </a:spcAft>
              <a:buSzPct val="100000"/>
              <a:buChar char="•"/>
            </a:pPr>
            <a:r>
              <a:rPr lang="en-US" sz="1600" dirty="0">
                <a:solidFill>
                  <a:schemeClr val="tx1"/>
                </a:solidFill>
              </a:rPr>
              <a:t>Very hard to detect</a:t>
            </a:r>
            <a:endParaRPr lang="en-US" sz="1600" dirty="0"/>
          </a:p>
          <a:p>
            <a:pPr marL="342900" indent="-342900">
              <a:spcAft>
                <a:spcPts val="800"/>
              </a:spcAft>
              <a:buSzPct val="100000"/>
              <a:buChar char="•"/>
            </a:pPr>
            <a:r>
              <a:rPr lang="en-US" sz="1600" dirty="0">
                <a:solidFill>
                  <a:schemeClr val="tx1"/>
                </a:solidFill>
              </a:rPr>
              <a:t>Prevent it: use encryption</a:t>
            </a:r>
            <a:endParaRPr lang="en-US" sz="1600" dirty="0"/>
          </a:p>
        </p:txBody>
      </p:sp>
      <p:sp>
        <p:nvSpPr>
          <p:cNvPr id="8" name="Active Attack"/>
          <p:cNvSpPr/>
          <p:nvPr/>
        </p:nvSpPr>
        <p:spPr>
          <a:xfrm>
            <a:off x="4709160" y="1280160"/>
            <a:ext cx="3977640" cy="3108960"/>
          </a:xfrm>
          <a:prstGeom prst="roundRect">
            <a:avLst>
              <a:gd name="adj" fmla="val 3529"/>
            </a:avLst>
          </a:prstGeom>
          <a:solidFill>
            <a:schemeClr val="bg2"/>
          </a:solidFill>
          <a:ln/>
        </p:spPr>
      </p:sp>
      <p:sp>
        <p:nvSpPr>
          <p:cNvPr id="9" name="Active Attack circle"/>
          <p:cNvSpPr/>
          <p:nvPr/>
        </p:nvSpPr>
        <p:spPr>
          <a:xfrm>
            <a:off x="4983480" y="1508760"/>
            <a:ext cx="777240" cy="777240"/>
          </a:xfrm>
          <a:prstGeom prst="ellipse">
            <a:avLst/>
          </a:prstGeom>
          <a:solidFill>
            <a:schemeClr val="accent1"/>
          </a:solidFill>
          <a:ln/>
        </p:spPr>
      </p:sp>
      <p:pic>
        <p:nvPicPr>
          <p:cNvPr id="10" name="Image 1" descr="Active Attack"/>
          <p:cNvPicPr>
            <a:picLocks noChangeAspect="1"/>
          </p:cNvPicPr>
          <p:nvPr/>
        </p:nvPicPr>
        <p:blipFill>
          <a:blip r:embed="rId4"/>
          <a:stretch>
            <a:fillRect/>
          </a:stretch>
        </p:blipFill>
        <p:spPr>
          <a:xfrm>
            <a:off x="5177790" y="1703070"/>
            <a:ext cx="388620" cy="388620"/>
          </a:xfrm>
          <a:prstGeom prst="rect">
            <a:avLst/>
          </a:prstGeom>
        </p:spPr>
      </p:pic>
      <p:sp>
        <p:nvSpPr>
          <p:cNvPr id="11" name="Text 7"/>
          <p:cNvSpPr txBox="1"/>
          <p:nvPr/>
        </p:nvSpPr>
        <p:spPr>
          <a:xfrm>
            <a:off x="5989320" y="1691640"/>
            <a:ext cx="2560320" cy="411480"/>
          </a:xfrm>
          <a:prstGeom prst="rect">
            <a:avLst/>
          </a:prstGeom>
          <a:noFill/>
          <a:ln/>
        </p:spPr>
        <p:txBody>
          <a:bodyPr wrap="square" lIns="0" tIns="0" rIns="0" bIns="0" rtlCol="0" anchor="ctr"/>
          <a:lstStyle/>
          <a:p>
            <a:pPr marL="0" indent="0">
              <a:buNone/>
            </a:pPr>
            <a:r>
              <a:rPr lang="en-US" sz="2200" b="1" dirty="0">
                <a:solidFill>
                  <a:schemeClr val="tx2"/>
                </a:solidFill>
              </a:rPr>
              <a:t>Active Attack</a:t>
            </a:r>
            <a:endParaRPr lang="en-US" sz="2200" dirty="0"/>
          </a:p>
        </p:txBody>
      </p:sp>
      <p:sp>
        <p:nvSpPr>
          <p:cNvPr id="12" name="Text 8"/>
          <p:cNvSpPr txBox="1"/>
          <p:nvPr/>
        </p:nvSpPr>
        <p:spPr>
          <a:xfrm>
            <a:off x="5029200" y="2514600"/>
            <a:ext cx="3383280" cy="1737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Changes, fakes or blocks data</a:t>
            </a:r>
            <a:endParaRPr lang="en-US" sz="1600" dirty="0"/>
          </a:p>
          <a:p>
            <a:pPr marL="342900" indent="-342900">
              <a:spcAft>
                <a:spcPts val="800"/>
              </a:spcAft>
              <a:buSzPct val="100000"/>
              <a:buChar char="•"/>
            </a:pPr>
            <a:r>
              <a:rPr lang="en-US" sz="1600" dirty="0">
                <a:solidFill>
                  <a:schemeClr val="tx1"/>
                </a:solidFill>
              </a:rPr>
              <a:t>System is affected</a:t>
            </a:r>
            <a:endParaRPr lang="en-US" sz="1600" dirty="0"/>
          </a:p>
          <a:p>
            <a:pPr marL="342900" indent="-342900">
              <a:spcAft>
                <a:spcPts val="800"/>
              </a:spcAft>
              <a:buSzPct val="100000"/>
              <a:buChar char="•"/>
            </a:pPr>
            <a:r>
              <a:rPr lang="en-US" sz="1600" dirty="0">
                <a:solidFill>
                  <a:schemeClr val="tx1"/>
                </a:solidFill>
              </a:rPr>
              <a:t>Easier to detect</a:t>
            </a:r>
            <a:endParaRPr lang="en-US" sz="1600" dirty="0"/>
          </a:p>
          <a:p>
            <a:pPr marL="342900" indent="-342900">
              <a:spcAft>
                <a:spcPts val="800"/>
              </a:spcAft>
              <a:buSzPct val="100000"/>
              <a:buChar char="•"/>
            </a:pPr>
            <a:r>
              <a:rPr lang="en-US" sz="1600" dirty="0">
                <a:solidFill>
                  <a:schemeClr val="tx1"/>
                </a:solidFill>
              </a:rPr>
              <a:t>Needs detection and recovery</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tx2"/>
                </a:solidFill>
              </a:rPr>
              <a:t>Passive Attacks: Spying</a:t>
            </a:r>
            <a:endParaRPr lang="en-US" sz="3600" dirty="0"/>
          </a:p>
        </p:txBody>
      </p:sp>
      <p:sp>
        <p:nvSpPr>
          <p:cNvPr id="3" name="Sender"/>
          <p:cNvSpPr/>
          <p:nvPr/>
        </p:nvSpPr>
        <p:spPr>
          <a:xfrm>
            <a:off x="731520" y="1280160"/>
            <a:ext cx="1645920" cy="640080"/>
          </a:xfrm>
          <a:prstGeom prst="roundRect">
            <a:avLst>
              <a:gd name="adj" fmla="val 14286"/>
            </a:avLst>
          </a:prstGeom>
          <a:solidFill>
            <a:schemeClr val="accent4"/>
          </a:solidFill>
          <a:ln/>
        </p:spPr>
      </p:sp>
      <p:sp>
        <p:nvSpPr>
          <p:cNvPr id="4" name="Text 2"/>
          <p:cNvSpPr txBox="1"/>
          <p:nvPr/>
        </p:nvSpPr>
        <p:spPr>
          <a:xfrm>
            <a:off x="731520" y="1280160"/>
            <a:ext cx="1645920" cy="640080"/>
          </a:xfrm>
          <a:prstGeom prst="rect">
            <a:avLst/>
          </a:prstGeom>
          <a:noFill/>
          <a:ln/>
        </p:spPr>
        <p:txBody>
          <a:bodyPr wrap="square" lIns="0" tIns="0" rIns="0" bIns="0" rtlCol="0" anchor="ctr"/>
          <a:lstStyle/>
          <a:p>
            <a:pPr marL="0" indent="0" algn="ctr">
              <a:buNone/>
            </a:pPr>
            <a:r>
              <a:rPr lang="en-US" sz="1600" b="1" dirty="0">
                <a:solidFill>
                  <a:schemeClr val="bg1"/>
                </a:solidFill>
              </a:rPr>
              <a:t>Sender</a:t>
            </a:r>
            <a:endParaRPr lang="en-US" sz="1600" dirty="0"/>
          </a:p>
        </p:txBody>
      </p:sp>
      <p:sp>
        <p:nvSpPr>
          <p:cNvPr id="5" name="Receiver"/>
          <p:cNvSpPr/>
          <p:nvPr/>
        </p:nvSpPr>
        <p:spPr>
          <a:xfrm>
            <a:off x="6766560" y="1280160"/>
            <a:ext cx="1645920" cy="640080"/>
          </a:xfrm>
          <a:prstGeom prst="roundRect">
            <a:avLst>
              <a:gd name="adj" fmla="val 14286"/>
            </a:avLst>
          </a:prstGeom>
          <a:solidFill>
            <a:schemeClr val="accent4"/>
          </a:solidFill>
          <a:ln/>
        </p:spPr>
      </p:sp>
      <p:sp>
        <p:nvSpPr>
          <p:cNvPr id="6" name="Text 4"/>
          <p:cNvSpPr txBox="1"/>
          <p:nvPr/>
        </p:nvSpPr>
        <p:spPr>
          <a:xfrm>
            <a:off x="6766560" y="1280160"/>
            <a:ext cx="1645920" cy="640080"/>
          </a:xfrm>
          <a:prstGeom prst="rect">
            <a:avLst/>
          </a:prstGeom>
          <a:noFill/>
          <a:ln/>
        </p:spPr>
        <p:txBody>
          <a:bodyPr wrap="square" lIns="0" tIns="0" rIns="0" bIns="0" rtlCol="0" anchor="ctr"/>
          <a:lstStyle/>
          <a:p>
            <a:pPr marL="0" indent="0" algn="ctr">
              <a:buNone/>
            </a:pPr>
            <a:r>
              <a:rPr lang="en-US" sz="1600" b="1" dirty="0">
                <a:solidFill>
                  <a:schemeClr val="bg1"/>
                </a:solidFill>
              </a:rPr>
              <a:t>Receiver</a:t>
            </a:r>
            <a:endParaRPr lang="en-US" sz="1600" dirty="0"/>
          </a:p>
        </p:txBody>
      </p:sp>
      <p:sp>
        <p:nvSpPr>
          <p:cNvPr id="7" name="Message arrow"/>
          <p:cNvSpPr/>
          <p:nvPr/>
        </p:nvSpPr>
        <p:spPr>
          <a:xfrm>
            <a:off x="2377440" y="1600200"/>
            <a:ext cx="4389120" cy="0"/>
          </a:xfrm>
          <a:prstGeom prst="line">
            <a:avLst/>
          </a:prstGeom>
          <a:noFill/>
          <a:ln w="31750">
            <a:solidFill>
              <a:schemeClr val="tx2"/>
            </a:solidFill>
            <a:prstDash val="solid"/>
            <a:tailEnd type="triangle"/>
          </a:ln>
        </p:spPr>
      </p:sp>
      <p:sp>
        <p:nvSpPr>
          <p:cNvPr id="8" name="Text 6"/>
          <p:cNvSpPr txBox="1"/>
          <p:nvPr/>
        </p:nvSpPr>
        <p:spPr>
          <a:xfrm>
            <a:off x="3200400" y="1280160"/>
            <a:ext cx="2743200" cy="274320"/>
          </a:xfrm>
          <a:prstGeom prst="rect">
            <a:avLst/>
          </a:prstGeom>
          <a:noFill/>
          <a:ln/>
        </p:spPr>
        <p:txBody>
          <a:bodyPr wrap="square" lIns="0" tIns="0" rIns="0" bIns="0" rtlCol="0" anchor="t"/>
          <a:lstStyle/>
          <a:p>
            <a:pPr marL="0" indent="0" algn="ctr">
              <a:buNone/>
            </a:pPr>
            <a:r>
              <a:rPr lang="en-US" sz="1200" dirty="0">
                <a:solidFill>
                  <a:schemeClr val="accent5"/>
                </a:solidFill>
              </a:rPr>
              <a:t>Message travels</a:t>
            </a:r>
            <a:endParaRPr lang="en-US" sz="1200" dirty="0"/>
          </a:p>
        </p:txBody>
      </p:sp>
      <p:sp>
        <p:nvSpPr>
          <p:cNvPr id="9" name="Tap line"/>
          <p:cNvSpPr/>
          <p:nvPr/>
        </p:nvSpPr>
        <p:spPr>
          <a:xfrm>
            <a:off x="4572000" y="1627632"/>
            <a:ext cx="0" cy="658368"/>
          </a:xfrm>
          <a:prstGeom prst="line">
            <a:avLst/>
          </a:prstGeom>
          <a:noFill/>
          <a:ln w="25400">
            <a:solidFill>
              <a:schemeClr val="accent1"/>
            </a:solidFill>
            <a:prstDash val="dash"/>
          </a:ln>
        </p:spPr>
      </p:sp>
      <p:sp>
        <p:nvSpPr>
          <p:cNvPr id="10" name="Attacker"/>
          <p:cNvSpPr/>
          <p:nvPr/>
        </p:nvSpPr>
        <p:spPr>
          <a:xfrm>
            <a:off x="3657600" y="2286000"/>
            <a:ext cx="1828800" cy="548640"/>
          </a:xfrm>
          <a:prstGeom prst="roundRect">
            <a:avLst>
              <a:gd name="adj" fmla="val 16667"/>
            </a:avLst>
          </a:prstGeom>
          <a:solidFill>
            <a:schemeClr val="accent1"/>
          </a:solidFill>
          <a:ln/>
        </p:spPr>
      </p:sp>
      <p:sp>
        <p:nvSpPr>
          <p:cNvPr id="11" name="Text 9"/>
          <p:cNvSpPr txBox="1"/>
          <p:nvPr/>
        </p:nvSpPr>
        <p:spPr>
          <a:xfrm>
            <a:off x="3657600" y="2286000"/>
            <a:ext cx="1828800" cy="548640"/>
          </a:xfrm>
          <a:prstGeom prst="rect">
            <a:avLst/>
          </a:prstGeom>
          <a:noFill/>
          <a:ln/>
        </p:spPr>
        <p:txBody>
          <a:bodyPr wrap="square" lIns="0" tIns="0" rIns="0" bIns="0" rtlCol="0" anchor="ctr"/>
          <a:lstStyle/>
          <a:p>
            <a:pPr marL="0" indent="0" algn="ctr">
              <a:buNone/>
            </a:pPr>
            <a:r>
              <a:rPr lang="en-US" sz="1400" b="1" dirty="0">
                <a:solidFill>
                  <a:schemeClr val="bg1"/>
                </a:solidFill>
              </a:rPr>
              <a:t>Attacker (listens)</a:t>
            </a:r>
            <a:endParaRPr lang="en-US" sz="1400" dirty="0"/>
          </a:p>
        </p:txBody>
      </p:sp>
      <p:sp>
        <p:nvSpPr>
          <p:cNvPr id="12" name="Passive card 1"/>
          <p:cNvSpPr/>
          <p:nvPr/>
        </p:nvSpPr>
        <p:spPr>
          <a:xfrm>
            <a:off x="457200" y="3063240"/>
            <a:ext cx="3977640" cy="1600200"/>
          </a:xfrm>
          <a:prstGeom prst="roundRect">
            <a:avLst>
              <a:gd name="adj" fmla="val 6857"/>
            </a:avLst>
          </a:prstGeom>
          <a:solidFill>
            <a:schemeClr val="bg2"/>
          </a:solidFill>
          <a:ln/>
        </p:spPr>
      </p:sp>
      <p:sp>
        <p:nvSpPr>
          <p:cNvPr id="13" name="Release of message contents circle"/>
          <p:cNvSpPr/>
          <p:nvPr/>
        </p:nvSpPr>
        <p:spPr>
          <a:xfrm>
            <a:off x="640080" y="3200400"/>
            <a:ext cx="502920" cy="502920"/>
          </a:xfrm>
          <a:prstGeom prst="ellipse">
            <a:avLst/>
          </a:prstGeom>
          <a:solidFill>
            <a:schemeClr val="accent2"/>
          </a:solidFill>
          <a:ln/>
        </p:spPr>
      </p:sp>
      <p:pic>
        <p:nvPicPr>
          <p:cNvPr id="14" name="Image 0" descr="Release of message contents"/>
          <p:cNvPicPr>
            <a:picLocks noChangeAspect="1"/>
          </p:cNvPicPr>
          <p:nvPr/>
        </p:nvPicPr>
        <p:blipFill>
          <a:blip r:embed="rId3"/>
          <a:stretch>
            <a:fillRect/>
          </a:stretch>
        </p:blipFill>
        <p:spPr>
          <a:xfrm>
            <a:off x="765810" y="3326130"/>
            <a:ext cx="251460" cy="251460"/>
          </a:xfrm>
          <a:prstGeom prst="rect">
            <a:avLst/>
          </a:prstGeom>
        </p:spPr>
      </p:pic>
      <p:sp>
        <p:nvSpPr>
          <p:cNvPr id="15" name="Text 12"/>
          <p:cNvSpPr txBox="1"/>
          <p:nvPr/>
        </p:nvSpPr>
        <p:spPr>
          <a:xfrm>
            <a:off x="1325880" y="3200400"/>
            <a:ext cx="2926080" cy="502920"/>
          </a:xfrm>
          <a:prstGeom prst="rect">
            <a:avLst/>
          </a:prstGeom>
          <a:noFill/>
          <a:ln/>
        </p:spPr>
        <p:txBody>
          <a:bodyPr wrap="square" lIns="0" tIns="0" rIns="0" bIns="0" rtlCol="0" anchor="ctr"/>
          <a:lstStyle/>
          <a:p>
            <a:pPr marL="0" indent="0">
              <a:buNone/>
            </a:pPr>
            <a:r>
              <a:rPr lang="en-US" sz="1700" b="1" dirty="0">
                <a:solidFill>
                  <a:schemeClr val="tx2"/>
                </a:solidFill>
              </a:rPr>
              <a:t>Release of message contents</a:t>
            </a:r>
            <a:endParaRPr lang="en-US" sz="1700" dirty="0"/>
          </a:p>
        </p:txBody>
      </p:sp>
      <p:sp>
        <p:nvSpPr>
          <p:cNvPr id="16" name="Text 13"/>
          <p:cNvSpPr txBox="1"/>
          <p:nvPr/>
        </p:nvSpPr>
        <p:spPr>
          <a:xfrm>
            <a:off x="685800" y="3794760"/>
            <a:ext cx="3520440" cy="777240"/>
          </a:xfrm>
          <a:prstGeom prst="rect">
            <a:avLst/>
          </a:prstGeom>
          <a:noFill/>
          <a:ln/>
        </p:spPr>
        <p:txBody>
          <a:bodyPr wrap="square" lIns="0" tIns="0" rIns="0" bIns="0" rtlCol="0" anchor="t"/>
          <a:lstStyle/>
          <a:p>
            <a:pPr marL="0" indent="0">
              <a:buNone/>
            </a:pPr>
            <a:r>
              <a:rPr lang="en-US" sz="1400" dirty="0">
                <a:solidFill>
                  <a:schemeClr val="tx1"/>
                </a:solidFill>
              </a:rPr>
              <a:t>Attacker reads emails, files or passwords while they travel (eavesdropping, sniffing).</a:t>
            </a:r>
            <a:endParaRPr lang="en-US" sz="1400" dirty="0"/>
          </a:p>
        </p:txBody>
      </p:sp>
      <p:sp>
        <p:nvSpPr>
          <p:cNvPr id="17" name="Passive card 2"/>
          <p:cNvSpPr/>
          <p:nvPr/>
        </p:nvSpPr>
        <p:spPr>
          <a:xfrm>
            <a:off x="4709160" y="3063240"/>
            <a:ext cx="3977640" cy="1600200"/>
          </a:xfrm>
          <a:prstGeom prst="roundRect">
            <a:avLst>
              <a:gd name="adj" fmla="val 6857"/>
            </a:avLst>
          </a:prstGeom>
          <a:solidFill>
            <a:schemeClr val="bg2"/>
          </a:solidFill>
          <a:ln/>
        </p:spPr>
      </p:sp>
      <p:sp>
        <p:nvSpPr>
          <p:cNvPr id="18" name="Traffic analysis circle"/>
          <p:cNvSpPr/>
          <p:nvPr/>
        </p:nvSpPr>
        <p:spPr>
          <a:xfrm>
            <a:off x="4892040" y="3200400"/>
            <a:ext cx="502920" cy="502920"/>
          </a:xfrm>
          <a:prstGeom prst="ellipse">
            <a:avLst/>
          </a:prstGeom>
          <a:solidFill>
            <a:schemeClr val="accent2"/>
          </a:solidFill>
          <a:ln/>
        </p:spPr>
      </p:sp>
      <p:pic>
        <p:nvPicPr>
          <p:cNvPr id="19" name="Image 1" descr="Traffic analysis"/>
          <p:cNvPicPr>
            <a:picLocks noChangeAspect="1"/>
          </p:cNvPicPr>
          <p:nvPr/>
        </p:nvPicPr>
        <p:blipFill>
          <a:blip r:embed="rId4"/>
          <a:stretch>
            <a:fillRect/>
          </a:stretch>
        </p:blipFill>
        <p:spPr>
          <a:xfrm>
            <a:off x="5017770" y="3326130"/>
            <a:ext cx="251460" cy="251460"/>
          </a:xfrm>
          <a:prstGeom prst="rect">
            <a:avLst/>
          </a:prstGeom>
        </p:spPr>
      </p:pic>
      <p:sp>
        <p:nvSpPr>
          <p:cNvPr id="20" name="Text 16"/>
          <p:cNvSpPr txBox="1"/>
          <p:nvPr/>
        </p:nvSpPr>
        <p:spPr>
          <a:xfrm>
            <a:off x="5577840" y="3200400"/>
            <a:ext cx="2926080" cy="502920"/>
          </a:xfrm>
          <a:prstGeom prst="rect">
            <a:avLst/>
          </a:prstGeom>
          <a:noFill/>
          <a:ln/>
        </p:spPr>
        <p:txBody>
          <a:bodyPr wrap="square" lIns="0" tIns="0" rIns="0" bIns="0" rtlCol="0" anchor="ctr"/>
          <a:lstStyle/>
          <a:p>
            <a:pPr marL="0" indent="0">
              <a:buNone/>
            </a:pPr>
            <a:r>
              <a:rPr lang="en-US" sz="1700" b="1" dirty="0">
                <a:solidFill>
                  <a:schemeClr val="tx2"/>
                </a:solidFill>
              </a:rPr>
              <a:t>Traffic analysis</a:t>
            </a:r>
            <a:endParaRPr lang="en-US" sz="1700" dirty="0"/>
          </a:p>
        </p:txBody>
      </p:sp>
      <p:sp>
        <p:nvSpPr>
          <p:cNvPr id="21" name="Text 17"/>
          <p:cNvSpPr txBox="1"/>
          <p:nvPr/>
        </p:nvSpPr>
        <p:spPr>
          <a:xfrm>
            <a:off x="4937760" y="3794760"/>
            <a:ext cx="3520440" cy="777240"/>
          </a:xfrm>
          <a:prstGeom prst="rect">
            <a:avLst/>
          </a:prstGeom>
          <a:noFill/>
          <a:ln/>
        </p:spPr>
        <p:txBody>
          <a:bodyPr wrap="square" lIns="0" tIns="0" rIns="0" bIns="0" rtlCol="0" anchor="t"/>
          <a:lstStyle/>
          <a:p>
            <a:pPr marL="0" indent="0">
              <a:buNone/>
            </a:pPr>
            <a:r>
              <a:rPr lang="en-US" sz="1400" dirty="0">
                <a:solidFill>
                  <a:schemeClr val="tx1"/>
                </a:solidFill>
              </a:rPr>
              <a:t>Even if data is encrypted, the attacker studies who talks to whom, when, and how often.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tx2"/>
                </a:solidFill>
              </a:rPr>
              <a:t>Active Attacks: Interfering</a:t>
            </a:r>
            <a:endParaRPr lang="en-US" sz="3600" dirty="0"/>
          </a:p>
        </p:txBody>
      </p:sp>
      <p:sp>
        <p:nvSpPr>
          <p:cNvPr id="3" name="Active card 1"/>
          <p:cNvSpPr/>
          <p:nvPr/>
        </p:nvSpPr>
        <p:spPr>
          <a:xfrm>
            <a:off x="457200" y="1280160"/>
            <a:ext cx="1920240" cy="3200400"/>
          </a:xfrm>
          <a:prstGeom prst="roundRect">
            <a:avLst>
              <a:gd name="adj" fmla="val 5714"/>
            </a:avLst>
          </a:prstGeom>
          <a:solidFill>
            <a:schemeClr val="bg2"/>
          </a:solidFill>
          <a:ln/>
        </p:spPr>
      </p:sp>
      <p:sp>
        <p:nvSpPr>
          <p:cNvPr id="4" name="Masquerade circle"/>
          <p:cNvSpPr/>
          <p:nvPr/>
        </p:nvSpPr>
        <p:spPr>
          <a:xfrm>
            <a:off x="640080" y="1463040"/>
            <a:ext cx="640080" cy="640080"/>
          </a:xfrm>
          <a:prstGeom prst="ellipse">
            <a:avLst/>
          </a:prstGeom>
          <a:solidFill>
            <a:schemeClr val="accent1"/>
          </a:solidFill>
          <a:ln/>
        </p:spPr>
      </p:sp>
      <p:pic>
        <p:nvPicPr>
          <p:cNvPr id="5" name="Image 0" descr="Masquerade"/>
          <p:cNvPicPr>
            <a:picLocks noChangeAspect="1"/>
          </p:cNvPicPr>
          <p:nvPr/>
        </p:nvPicPr>
        <p:blipFill>
          <a:blip r:embed="rId3"/>
          <a:stretch>
            <a:fillRect/>
          </a:stretch>
        </p:blipFill>
        <p:spPr>
          <a:xfrm>
            <a:off x="800100" y="1623060"/>
            <a:ext cx="320040" cy="320040"/>
          </a:xfrm>
          <a:prstGeom prst="rect">
            <a:avLst/>
          </a:prstGeom>
        </p:spPr>
      </p:pic>
      <p:sp>
        <p:nvSpPr>
          <p:cNvPr id="6" name="Text 3"/>
          <p:cNvSpPr txBox="1"/>
          <p:nvPr/>
        </p:nvSpPr>
        <p:spPr>
          <a:xfrm>
            <a:off x="640080" y="2240280"/>
            <a:ext cx="1600200" cy="594360"/>
          </a:xfrm>
          <a:prstGeom prst="rect">
            <a:avLst/>
          </a:prstGeom>
          <a:noFill/>
          <a:ln/>
        </p:spPr>
        <p:txBody>
          <a:bodyPr wrap="square" lIns="0" tIns="0" rIns="0" bIns="0" rtlCol="0" anchor="t"/>
          <a:lstStyle/>
          <a:p>
            <a:pPr marL="0" indent="0">
              <a:buNone/>
            </a:pPr>
            <a:r>
              <a:rPr lang="en-US" sz="1600" b="1" dirty="0">
                <a:solidFill>
                  <a:schemeClr val="tx2"/>
                </a:solidFill>
              </a:rPr>
              <a:t>Masquerade</a:t>
            </a:r>
            <a:endParaRPr lang="en-US" sz="1600" dirty="0"/>
          </a:p>
        </p:txBody>
      </p:sp>
      <p:sp>
        <p:nvSpPr>
          <p:cNvPr id="7" name="Text 4"/>
          <p:cNvSpPr txBox="1"/>
          <p:nvPr/>
        </p:nvSpPr>
        <p:spPr>
          <a:xfrm>
            <a:off x="640080" y="2880360"/>
            <a:ext cx="1600200" cy="914400"/>
          </a:xfrm>
          <a:prstGeom prst="rect">
            <a:avLst/>
          </a:prstGeom>
          <a:noFill/>
          <a:ln/>
        </p:spPr>
        <p:txBody>
          <a:bodyPr wrap="square" lIns="0" tIns="0" rIns="0" bIns="0" rtlCol="0" anchor="t"/>
          <a:lstStyle/>
          <a:p>
            <a:pPr marL="0" indent="0">
              <a:buNone/>
            </a:pPr>
            <a:r>
              <a:rPr lang="en-US" sz="1400" dirty="0">
                <a:solidFill>
                  <a:schemeClr val="tx1"/>
                </a:solidFill>
              </a:rPr>
              <a:t>Pretends to be a trusted person or device.</a:t>
            </a:r>
            <a:endParaRPr lang="en-US" sz="1400" dirty="0"/>
          </a:p>
        </p:txBody>
      </p:sp>
      <p:sp>
        <p:nvSpPr>
          <p:cNvPr id="8" name="Goal tag 1"/>
          <p:cNvSpPr/>
          <p:nvPr/>
        </p:nvSpPr>
        <p:spPr>
          <a:xfrm>
            <a:off x="640080" y="3931920"/>
            <a:ext cx="1554480" cy="365760"/>
          </a:xfrm>
          <a:prstGeom prst="roundRect">
            <a:avLst>
              <a:gd name="adj" fmla="val 50000"/>
            </a:avLst>
          </a:prstGeom>
          <a:solidFill>
            <a:schemeClr val="tx2"/>
          </a:solidFill>
          <a:ln/>
        </p:spPr>
      </p:sp>
      <p:sp>
        <p:nvSpPr>
          <p:cNvPr id="9" name="Text 6"/>
          <p:cNvSpPr txBox="1"/>
          <p:nvPr/>
        </p:nvSpPr>
        <p:spPr>
          <a:xfrm>
            <a:off x="640080" y="3931920"/>
            <a:ext cx="1554480" cy="365760"/>
          </a:xfrm>
          <a:prstGeom prst="rect">
            <a:avLst/>
          </a:prstGeom>
          <a:noFill/>
          <a:ln/>
        </p:spPr>
        <p:txBody>
          <a:bodyPr wrap="square" lIns="0" tIns="0" rIns="0" bIns="0" rtlCol="0" anchor="ctr"/>
          <a:lstStyle/>
          <a:p>
            <a:pPr marL="0" indent="0" algn="ctr">
              <a:buNone/>
            </a:pPr>
            <a:r>
              <a:rPr lang="en-US" sz="1200" b="1" dirty="0">
                <a:solidFill>
                  <a:schemeClr val="bg1"/>
                </a:solidFill>
              </a:rPr>
              <a:t>Authenticity</a:t>
            </a:r>
            <a:endParaRPr lang="en-US" sz="1200" dirty="0"/>
          </a:p>
        </p:txBody>
      </p:sp>
      <p:sp>
        <p:nvSpPr>
          <p:cNvPr id="10" name="Active card 2"/>
          <p:cNvSpPr/>
          <p:nvPr/>
        </p:nvSpPr>
        <p:spPr>
          <a:xfrm>
            <a:off x="2560320" y="1280160"/>
            <a:ext cx="1920240" cy="3200400"/>
          </a:xfrm>
          <a:prstGeom prst="roundRect">
            <a:avLst>
              <a:gd name="adj" fmla="val 5714"/>
            </a:avLst>
          </a:prstGeom>
          <a:solidFill>
            <a:schemeClr val="bg2"/>
          </a:solidFill>
          <a:ln/>
        </p:spPr>
      </p:sp>
      <p:sp>
        <p:nvSpPr>
          <p:cNvPr id="11" name="Replay circle"/>
          <p:cNvSpPr/>
          <p:nvPr/>
        </p:nvSpPr>
        <p:spPr>
          <a:xfrm>
            <a:off x="2743200" y="1463040"/>
            <a:ext cx="640080" cy="640080"/>
          </a:xfrm>
          <a:prstGeom prst="ellipse">
            <a:avLst/>
          </a:prstGeom>
          <a:solidFill>
            <a:schemeClr val="accent1"/>
          </a:solidFill>
          <a:ln/>
        </p:spPr>
      </p:sp>
      <p:pic>
        <p:nvPicPr>
          <p:cNvPr id="12" name="Image 1" descr="Replay"/>
          <p:cNvPicPr>
            <a:picLocks noChangeAspect="1"/>
          </p:cNvPicPr>
          <p:nvPr/>
        </p:nvPicPr>
        <p:blipFill>
          <a:blip r:embed="rId4"/>
          <a:stretch>
            <a:fillRect/>
          </a:stretch>
        </p:blipFill>
        <p:spPr>
          <a:xfrm>
            <a:off x="2903220" y="1623060"/>
            <a:ext cx="320040" cy="320040"/>
          </a:xfrm>
          <a:prstGeom prst="rect">
            <a:avLst/>
          </a:prstGeom>
        </p:spPr>
      </p:pic>
      <p:sp>
        <p:nvSpPr>
          <p:cNvPr id="13" name="Text 9"/>
          <p:cNvSpPr txBox="1"/>
          <p:nvPr/>
        </p:nvSpPr>
        <p:spPr>
          <a:xfrm>
            <a:off x="2743200" y="2240280"/>
            <a:ext cx="1600200" cy="594360"/>
          </a:xfrm>
          <a:prstGeom prst="rect">
            <a:avLst/>
          </a:prstGeom>
          <a:noFill/>
          <a:ln/>
        </p:spPr>
        <p:txBody>
          <a:bodyPr wrap="square" lIns="0" tIns="0" rIns="0" bIns="0" rtlCol="0" anchor="t"/>
          <a:lstStyle/>
          <a:p>
            <a:pPr marL="0" indent="0">
              <a:buNone/>
            </a:pPr>
            <a:r>
              <a:rPr lang="en-US" sz="1600" b="1" dirty="0">
                <a:solidFill>
                  <a:schemeClr val="tx2"/>
                </a:solidFill>
              </a:rPr>
              <a:t>Replay</a:t>
            </a:r>
            <a:endParaRPr lang="en-US" sz="1600" dirty="0"/>
          </a:p>
        </p:txBody>
      </p:sp>
      <p:sp>
        <p:nvSpPr>
          <p:cNvPr id="14" name="Text 10"/>
          <p:cNvSpPr txBox="1"/>
          <p:nvPr/>
        </p:nvSpPr>
        <p:spPr>
          <a:xfrm>
            <a:off x="2743200" y="2880360"/>
            <a:ext cx="1600200" cy="914400"/>
          </a:xfrm>
          <a:prstGeom prst="rect">
            <a:avLst/>
          </a:prstGeom>
          <a:noFill/>
          <a:ln/>
        </p:spPr>
        <p:txBody>
          <a:bodyPr wrap="square" lIns="0" tIns="0" rIns="0" bIns="0" rtlCol="0" anchor="t"/>
          <a:lstStyle/>
          <a:p>
            <a:pPr marL="0" indent="0">
              <a:buNone/>
            </a:pPr>
            <a:r>
              <a:rPr lang="en-US" sz="1400" dirty="0">
                <a:solidFill>
                  <a:schemeClr val="tx1"/>
                </a:solidFill>
              </a:rPr>
              <a:t>Captures a valid message and sends it again.</a:t>
            </a:r>
            <a:endParaRPr lang="en-US" sz="1400" dirty="0"/>
          </a:p>
        </p:txBody>
      </p:sp>
      <p:sp>
        <p:nvSpPr>
          <p:cNvPr id="15" name="Goal tag 2"/>
          <p:cNvSpPr/>
          <p:nvPr/>
        </p:nvSpPr>
        <p:spPr>
          <a:xfrm>
            <a:off x="2743200" y="3931920"/>
            <a:ext cx="1554480" cy="365760"/>
          </a:xfrm>
          <a:prstGeom prst="roundRect">
            <a:avLst>
              <a:gd name="adj" fmla="val 50000"/>
            </a:avLst>
          </a:prstGeom>
          <a:solidFill>
            <a:schemeClr val="tx2"/>
          </a:solidFill>
          <a:ln/>
        </p:spPr>
      </p:sp>
      <p:sp>
        <p:nvSpPr>
          <p:cNvPr id="16" name="Text 12"/>
          <p:cNvSpPr txBox="1"/>
          <p:nvPr/>
        </p:nvSpPr>
        <p:spPr>
          <a:xfrm>
            <a:off x="2743200" y="3931920"/>
            <a:ext cx="1554480" cy="365760"/>
          </a:xfrm>
          <a:prstGeom prst="rect">
            <a:avLst/>
          </a:prstGeom>
          <a:noFill/>
          <a:ln/>
        </p:spPr>
        <p:txBody>
          <a:bodyPr wrap="square" lIns="0" tIns="0" rIns="0" bIns="0" rtlCol="0" anchor="ctr"/>
          <a:lstStyle/>
          <a:p>
            <a:pPr marL="0" indent="0" algn="ctr">
              <a:buNone/>
            </a:pPr>
            <a:r>
              <a:rPr lang="en-US" sz="1200" b="1" dirty="0">
                <a:solidFill>
                  <a:schemeClr val="bg1"/>
                </a:solidFill>
              </a:rPr>
              <a:t>Integrity</a:t>
            </a:r>
            <a:endParaRPr lang="en-US" sz="1200" dirty="0"/>
          </a:p>
        </p:txBody>
      </p:sp>
      <p:sp>
        <p:nvSpPr>
          <p:cNvPr id="17" name="Active card 3"/>
          <p:cNvSpPr/>
          <p:nvPr/>
        </p:nvSpPr>
        <p:spPr>
          <a:xfrm>
            <a:off x="4663440" y="1280160"/>
            <a:ext cx="1920240" cy="3200400"/>
          </a:xfrm>
          <a:prstGeom prst="roundRect">
            <a:avLst>
              <a:gd name="adj" fmla="val 5714"/>
            </a:avLst>
          </a:prstGeom>
          <a:solidFill>
            <a:schemeClr val="bg2"/>
          </a:solidFill>
          <a:ln/>
        </p:spPr>
      </p:sp>
      <p:sp>
        <p:nvSpPr>
          <p:cNvPr id="18" name="Modification circle"/>
          <p:cNvSpPr/>
          <p:nvPr/>
        </p:nvSpPr>
        <p:spPr>
          <a:xfrm>
            <a:off x="4846320" y="1463040"/>
            <a:ext cx="640080" cy="640080"/>
          </a:xfrm>
          <a:prstGeom prst="ellipse">
            <a:avLst/>
          </a:prstGeom>
          <a:solidFill>
            <a:schemeClr val="accent1"/>
          </a:solidFill>
          <a:ln/>
        </p:spPr>
      </p:sp>
      <p:pic>
        <p:nvPicPr>
          <p:cNvPr id="19" name="Image 2" descr="Modification"/>
          <p:cNvPicPr>
            <a:picLocks noChangeAspect="1"/>
          </p:cNvPicPr>
          <p:nvPr/>
        </p:nvPicPr>
        <p:blipFill>
          <a:blip r:embed="rId5"/>
          <a:stretch>
            <a:fillRect/>
          </a:stretch>
        </p:blipFill>
        <p:spPr>
          <a:xfrm>
            <a:off x="5006340" y="1623060"/>
            <a:ext cx="320040" cy="320040"/>
          </a:xfrm>
          <a:prstGeom prst="rect">
            <a:avLst/>
          </a:prstGeom>
        </p:spPr>
      </p:pic>
      <p:sp>
        <p:nvSpPr>
          <p:cNvPr id="20" name="Text 15"/>
          <p:cNvSpPr txBox="1"/>
          <p:nvPr/>
        </p:nvSpPr>
        <p:spPr>
          <a:xfrm>
            <a:off x="4846320" y="2240280"/>
            <a:ext cx="1600200" cy="594360"/>
          </a:xfrm>
          <a:prstGeom prst="rect">
            <a:avLst/>
          </a:prstGeom>
          <a:noFill/>
          <a:ln/>
        </p:spPr>
        <p:txBody>
          <a:bodyPr wrap="square" lIns="0" tIns="0" rIns="0" bIns="0" rtlCol="0" anchor="t"/>
          <a:lstStyle/>
          <a:p>
            <a:pPr marL="0" indent="0">
              <a:buNone/>
            </a:pPr>
            <a:r>
              <a:rPr lang="en-US" sz="1600" b="1" dirty="0">
                <a:solidFill>
                  <a:schemeClr val="tx2"/>
                </a:solidFill>
              </a:rPr>
              <a:t>Modification</a:t>
            </a:r>
            <a:endParaRPr lang="en-US" sz="1600" dirty="0"/>
          </a:p>
        </p:txBody>
      </p:sp>
      <p:sp>
        <p:nvSpPr>
          <p:cNvPr id="21" name="Text 16"/>
          <p:cNvSpPr txBox="1"/>
          <p:nvPr/>
        </p:nvSpPr>
        <p:spPr>
          <a:xfrm>
            <a:off x="4846320" y="2880360"/>
            <a:ext cx="1600200" cy="914400"/>
          </a:xfrm>
          <a:prstGeom prst="rect">
            <a:avLst/>
          </a:prstGeom>
          <a:noFill/>
          <a:ln/>
        </p:spPr>
        <p:txBody>
          <a:bodyPr wrap="square" lIns="0" tIns="0" rIns="0" bIns="0" rtlCol="0" anchor="t"/>
          <a:lstStyle/>
          <a:p>
            <a:pPr marL="0" indent="0">
              <a:buNone/>
            </a:pPr>
            <a:r>
              <a:rPr lang="en-US" sz="1400" dirty="0">
                <a:solidFill>
                  <a:schemeClr val="tx1"/>
                </a:solidFill>
              </a:rPr>
              <a:t>Alters a message while it is in transit.</a:t>
            </a:r>
            <a:endParaRPr lang="en-US" sz="1400" dirty="0"/>
          </a:p>
        </p:txBody>
      </p:sp>
      <p:sp>
        <p:nvSpPr>
          <p:cNvPr id="22" name="Goal tag 3"/>
          <p:cNvSpPr/>
          <p:nvPr/>
        </p:nvSpPr>
        <p:spPr>
          <a:xfrm>
            <a:off x="4846320" y="3931920"/>
            <a:ext cx="1554480" cy="365760"/>
          </a:xfrm>
          <a:prstGeom prst="roundRect">
            <a:avLst>
              <a:gd name="adj" fmla="val 50000"/>
            </a:avLst>
          </a:prstGeom>
          <a:solidFill>
            <a:schemeClr val="tx2"/>
          </a:solidFill>
          <a:ln/>
        </p:spPr>
      </p:sp>
      <p:sp>
        <p:nvSpPr>
          <p:cNvPr id="23" name="Text 18"/>
          <p:cNvSpPr txBox="1"/>
          <p:nvPr/>
        </p:nvSpPr>
        <p:spPr>
          <a:xfrm>
            <a:off x="4846320" y="3931920"/>
            <a:ext cx="1554480" cy="365760"/>
          </a:xfrm>
          <a:prstGeom prst="rect">
            <a:avLst/>
          </a:prstGeom>
          <a:noFill/>
          <a:ln/>
        </p:spPr>
        <p:txBody>
          <a:bodyPr wrap="square" lIns="0" tIns="0" rIns="0" bIns="0" rtlCol="0" anchor="ctr"/>
          <a:lstStyle/>
          <a:p>
            <a:pPr marL="0" indent="0" algn="ctr">
              <a:buNone/>
            </a:pPr>
            <a:r>
              <a:rPr lang="en-US" sz="1200" b="1" dirty="0">
                <a:solidFill>
                  <a:schemeClr val="bg1"/>
                </a:solidFill>
              </a:rPr>
              <a:t>Integrity</a:t>
            </a:r>
            <a:endParaRPr lang="en-US" sz="1200" dirty="0"/>
          </a:p>
        </p:txBody>
      </p:sp>
      <p:sp>
        <p:nvSpPr>
          <p:cNvPr id="24" name="Active card 4"/>
          <p:cNvSpPr/>
          <p:nvPr/>
        </p:nvSpPr>
        <p:spPr>
          <a:xfrm>
            <a:off x="6766560" y="1280160"/>
            <a:ext cx="1920240" cy="3200400"/>
          </a:xfrm>
          <a:prstGeom prst="roundRect">
            <a:avLst>
              <a:gd name="adj" fmla="val 5714"/>
            </a:avLst>
          </a:prstGeom>
          <a:solidFill>
            <a:schemeClr val="bg2"/>
          </a:solidFill>
          <a:ln/>
        </p:spPr>
      </p:sp>
      <p:sp>
        <p:nvSpPr>
          <p:cNvPr id="25" name="Denial of Service circle"/>
          <p:cNvSpPr/>
          <p:nvPr/>
        </p:nvSpPr>
        <p:spPr>
          <a:xfrm>
            <a:off x="6949440" y="1463040"/>
            <a:ext cx="640080" cy="640080"/>
          </a:xfrm>
          <a:prstGeom prst="ellipse">
            <a:avLst/>
          </a:prstGeom>
          <a:solidFill>
            <a:schemeClr val="accent1"/>
          </a:solidFill>
          <a:ln/>
        </p:spPr>
      </p:sp>
      <p:pic>
        <p:nvPicPr>
          <p:cNvPr id="26" name="Image 3" descr="Denial of Service"/>
          <p:cNvPicPr>
            <a:picLocks noChangeAspect="1"/>
          </p:cNvPicPr>
          <p:nvPr/>
        </p:nvPicPr>
        <p:blipFill>
          <a:blip r:embed="rId6"/>
          <a:stretch>
            <a:fillRect/>
          </a:stretch>
        </p:blipFill>
        <p:spPr>
          <a:xfrm>
            <a:off x="7109460" y="1623060"/>
            <a:ext cx="320040" cy="320040"/>
          </a:xfrm>
          <a:prstGeom prst="rect">
            <a:avLst/>
          </a:prstGeom>
        </p:spPr>
      </p:pic>
      <p:sp>
        <p:nvSpPr>
          <p:cNvPr id="27" name="Text 21"/>
          <p:cNvSpPr txBox="1"/>
          <p:nvPr/>
        </p:nvSpPr>
        <p:spPr>
          <a:xfrm>
            <a:off x="6949440" y="2240280"/>
            <a:ext cx="1600200" cy="594360"/>
          </a:xfrm>
          <a:prstGeom prst="rect">
            <a:avLst/>
          </a:prstGeom>
          <a:noFill/>
          <a:ln/>
        </p:spPr>
        <p:txBody>
          <a:bodyPr wrap="square" lIns="0" tIns="0" rIns="0" bIns="0" rtlCol="0" anchor="t"/>
          <a:lstStyle/>
          <a:p>
            <a:pPr marL="0" indent="0">
              <a:buNone/>
            </a:pPr>
            <a:r>
              <a:rPr lang="en-US" sz="1600" b="1" dirty="0">
                <a:solidFill>
                  <a:schemeClr val="tx2"/>
                </a:solidFill>
              </a:rPr>
              <a:t>Denial of Service</a:t>
            </a:r>
            <a:endParaRPr lang="en-US" sz="1600" dirty="0"/>
          </a:p>
        </p:txBody>
      </p:sp>
      <p:sp>
        <p:nvSpPr>
          <p:cNvPr id="28" name="Text 22"/>
          <p:cNvSpPr txBox="1"/>
          <p:nvPr/>
        </p:nvSpPr>
        <p:spPr>
          <a:xfrm>
            <a:off x="6949440" y="2880360"/>
            <a:ext cx="1600200" cy="914400"/>
          </a:xfrm>
          <a:prstGeom prst="rect">
            <a:avLst/>
          </a:prstGeom>
          <a:noFill/>
          <a:ln/>
        </p:spPr>
        <p:txBody>
          <a:bodyPr wrap="square" lIns="0" tIns="0" rIns="0" bIns="0" rtlCol="0" anchor="t"/>
          <a:lstStyle/>
          <a:p>
            <a:pPr marL="0" indent="0">
              <a:buNone/>
            </a:pPr>
            <a:r>
              <a:rPr lang="en-US" sz="1400" dirty="0">
                <a:solidFill>
                  <a:schemeClr val="tx1"/>
                </a:solidFill>
              </a:rPr>
              <a:t>Floods a system so real users cannot use it.</a:t>
            </a:r>
            <a:endParaRPr lang="en-US" sz="1400" dirty="0"/>
          </a:p>
        </p:txBody>
      </p:sp>
      <p:sp>
        <p:nvSpPr>
          <p:cNvPr id="29" name="Goal tag 4"/>
          <p:cNvSpPr/>
          <p:nvPr/>
        </p:nvSpPr>
        <p:spPr>
          <a:xfrm>
            <a:off x="6949440" y="3931920"/>
            <a:ext cx="1554480" cy="365760"/>
          </a:xfrm>
          <a:prstGeom prst="roundRect">
            <a:avLst>
              <a:gd name="adj" fmla="val 50000"/>
            </a:avLst>
          </a:prstGeom>
          <a:solidFill>
            <a:schemeClr val="tx2"/>
          </a:solidFill>
          <a:ln/>
        </p:spPr>
      </p:sp>
      <p:sp>
        <p:nvSpPr>
          <p:cNvPr id="30" name="Text 24"/>
          <p:cNvSpPr txBox="1"/>
          <p:nvPr/>
        </p:nvSpPr>
        <p:spPr>
          <a:xfrm>
            <a:off x="6949440" y="3931920"/>
            <a:ext cx="1554480" cy="365760"/>
          </a:xfrm>
          <a:prstGeom prst="rect">
            <a:avLst/>
          </a:prstGeom>
          <a:noFill/>
          <a:ln/>
        </p:spPr>
        <p:txBody>
          <a:bodyPr wrap="square" lIns="0" tIns="0" rIns="0" bIns="0" rtlCol="0" anchor="ctr"/>
          <a:lstStyle/>
          <a:p>
            <a:pPr marL="0" indent="0" algn="ctr">
              <a:buNone/>
            </a:pPr>
            <a:r>
              <a:rPr lang="en-US" sz="1200" b="1" dirty="0">
                <a:solidFill>
                  <a:schemeClr val="bg1"/>
                </a:solidFill>
              </a:rPr>
              <a:t>Availability</a:t>
            </a:r>
            <a:endParaRPr lang="en-US" sz="1200" dirty="0"/>
          </a:p>
        </p:txBody>
      </p:sp>
      <p:sp>
        <p:nvSpPr>
          <p:cNvPr id="31"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tx2"/>
                </a:solidFill>
              </a:rPr>
              <a:t>Impact on Security Goals</a:t>
            </a:r>
            <a:endParaRPr lang="en-US" sz="3600" dirty="0"/>
          </a:p>
        </p:txBody>
      </p:sp>
      <p:graphicFrame>
        <p:nvGraphicFramePr>
          <p:cNvPr id="10" name="Impact table"/>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9202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3474720">
                  <a:extLst>
                    <a:ext uri="{9D8B030D-6E8A-4147-A177-3AD203B41FA5}">
                      <a16:colId xmlns:a16="http://schemas.microsoft.com/office/drawing/2014/main" val="20003"/>
                    </a:ext>
                  </a:extLst>
                </a:gridCol>
              </a:tblGrid>
              <a:tr h="475488">
                <a:tc>
                  <a:txBody>
                    <a:bodyPr/>
                    <a:lstStyle/>
                    <a:p>
                      <a:pPr marL="0" indent="0">
                        <a:buNone/>
                      </a:pPr>
                      <a:r>
                        <a:rPr lang="en-US" sz="1400" b="1" dirty="0">
                          <a:solidFill>
                            <a:srgbClr val="FFFFFF"/>
                          </a:solidFill>
                        </a:rPr>
                        <a:t>Attack</a:t>
                      </a:r>
                      <a:endParaRPr lang="en-US" sz="1400" dirty="0"/>
                    </a:p>
                  </a:txBody>
                  <a:tcPr marT="0" marB="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0E2238"/>
                    </a:solidFill>
                  </a:tcPr>
                </a:tc>
                <a:tc>
                  <a:txBody>
                    <a:bodyPr/>
                    <a:lstStyle/>
                    <a:p>
                      <a:pPr marL="0" indent="0">
                        <a:buNone/>
                      </a:pPr>
                      <a:r>
                        <a:rPr lang="en-US" sz="1400" b="1" dirty="0">
                          <a:solidFill>
                            <a:srgbClr val="FFFFFF"/>
                          </a:solidFill>
                        </a:rPr>
                        <a:t>Type</a:t>
                      </a:r>
                      <a:endParaRPr lang="en-US" sz="1400" dirty="0"/>
                    </a:p>
                  </a:txBody>
                  <a:tcPr marT="0" marB="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0E2238"/>
                    </a:solidFill>
                  </a:tcPr>
                </a:tc>
                <a:tc>
                  <a:txBody>
                    <a:bodyPr/>
                    <a:lstStyle/>
                    <a:p>
                      <a:pPr marL="0" indent="0">
                        <a:buNone/>
                      </a:pPr>
                      <a:r>
                        <a:rPr lang="en-US" sz="1400" b="1" dirty="0">
                          <a:solidFill>
                            <a:srgbClr val="FFFFFF"/>
                          </a:solidFill>
                        </a:rPr>
                        <a:t>Goal hurt</a:t>
                      </a:r>
                      <a:endParaRPr lang="en-US" sz="1400" dirty="0"/>
                    </a:p>
                  </a:txBody>
                  <a:tcPr marT="0" marB="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0E2238"/>
                    </a:solidFill>
                  </a:tcPr>
                </a:tc>
                <a:tc>
                  <a:txBody>
                    <a:bodyPr/>
                    <a:lstStyle/>
                    <a:p>
                      <a:pPr marL="0" indent="0">
                        <a:buNone/>
                      </a:pPr>
                      <a:r>
                        <a:rPr lang="en-US" sz="1400" b="1" dirty="0">
                          <a:solidFill>
                            <a:srgbClr val="FFFFFF"/>
                          </a:solidFill>
                        </a:rPr>
                        <a:t>What happens</a:t>
                      </a:r>
                      <a:endParaRPr lang="en-US" sz="1400" dirty="0"/>
                    </a:p>
                  </a:txBody>
                  <a:tcPr marT="0" marB="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0E2238"/>
                    </a:solidFill>
                  </a:tcPr>
                </a:tc>
                <a:extLst>
                  <a:ext uri="{0D108BD9-81ED-4DB2-BD59-A6C34878D82A}">
                    <a16:rowId xmlns:a16="http://schemas.microsoft.com/office/drawing/2014/main" val="10000"/>
                  </a:ext>
                </a:extLst>
              </a:tr>
              <a:tr h="475488">
                <a:tc>
                  <a:txBody>
                    <a:bodyPr/>
                    <a:lstStyle/>
                    <a:p>
                      <a:pPr marL="0" indent="0">
                        <a:buNone/>
                      </a:pPr>
                      <a:r>
                        <a:rPr lang="en-US" sz="1400" dirty="0">
                          <a:solidFill>
                            <a:srgbClr val="1B2430"/>
                          </a:solidFill>
                        </a:rPr>
                        <a:t>Eavesdropping</a:t>
                      </a:r>
                      <a:endParaRPr lang="en-US" sz="1400" dirty="0"/>
                    </a:p>
                  </a:txBody>
                  <a:tcPr marT="0" marB="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marL="0" indent="0">
                        <a:buNone/>
                      </a:pPr>
                      <a:r>
                        <a:rPr lang="en-US" sz="1400" dirty="0">
                          <a:solidFill>
                            <a:srgbClr val="1B2430"/>
                          </a:solidFill>
                        </a:rPr>
                        <a:t>Passive</a:t>
                      </a:r>
                      <a:endParaRPr lang="en-US" sz="1400" dirty="0"/>
                    </a:p>
                  </a:txBody>
                  <a:tcPr marT="0" marB="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marL="0" indent="0">
                        <a:buNone/>
                      </a:pPr>
                      <a:r>
                        <a:rPr lang="en-US" sz="1400" b="1" dirty="0">
                          <a:solidFill>
                            <a:srgbClr val="3D5A80"/>
                          </a:solidFill>
                        </a:rPr>
                        <a:t>Confidentiality</a:t>
                      </a:r>
                      <a:endParaRPr lang="en-US" sz="1400" dirty="0"/>
                    </a:p>
                  </a:txBody>
                  <a:tcPr marT="0" marB="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marL="0" indent="0">
                        <a:buNone/>
                      </a:pPr>
                      <a:r>
                        <a:rPr lang="en-US" sz="1400" dirty="0">
                          <a:solidFill>
                            <a:srgbClr val="1B2430"/>
                          </a:solidFill>
                        </a:rPr>
                        <a:t>Secret data is read by outsiders</a:t>
                      </a:r>
                      <a:endParaRPr lang="en-US" sz="1400" dirty="0"/>
                    </a:p>
                  </a:txBody>
                  <a:tcPr marT="0" marB="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400" dirty="0">
                          <a:solidFill>
                            <a:srgbClr val="1B2430"/>
                          </a:solidFill>
                        </a:rPr>
                        <a:t>Traffic analysis</a:t>
                      </a:r>
                      <a:endParaRPr lang="en-US" sz="1400" dirty="0"/>
                    </a:p>
                  </a:txBody>
                  <a:tcPr marT="0" marB="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marL="0" indent="0">
                        <a:buNone/>
                      </a:pPr>
                      <a:r>
                        <a:rPr lang="en-US" sz="1400" dirty="0">
                          <a:solidFill>
                            <a:srgbClr val="1B2430"/>
                          </a:solidFill>
                        </a:rPr>
                        <a:t>Passive</a:t>
                      </a:r>
                      <a:endParaRPr lang="en-US" sz="1400" dirty="0"/>
                    </a:p>
                  </a:txBody>
                  <a:tcPr marT="0" marB="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marL="0" indent="0">
                        <a:buNone/>
                      </a:pPr>
                      <a:r>
                        <a:rPr lang="en-US" sz="1400" b="1" dirty="0">
                          <a:solidFill>
                            <a:srgbClr val="3D5A80"/>
                          </a:solidFill>
                        </a:rPr>
                        <a:t>Confidentiality</a:t>
                      </a:r>
                      <a:endParaRPr lang="en-US" sz="1400" dirty="0"/>
                    </a:p>
                  </a:txBody>
                  <a:tcPr marT="0" marB="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marL="0" indent="0">
                        <a:buNone/>
                      </a:pPr>
                      <a:r>
                        <a:rPr lang="en-US" sz="1400" dirty="0">
                          <a:solidFill>
                            <a:srgbClr val="1B2430"/>
                          </a:solidFill>
                        </a:rPr>
                        <a:t>Attacker learns who talks to whom</a:t>
                      </a:r>
                      <a:endParaRPr lang="en-US" sz="1400" dirty="0"/>
                    </a:p>
                  </a:txBody>
                  <a:tcPr marT="0" marB="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400" dirty="0">
                          <a:solidFill>
                            <a:srgbClr val="1B2430"/>
                          </a:solidFill>
                        </a:rPr>
                        <a:t>Masquerade</a:t>
                      </a:r>
                      <a:endParaRPr lang="en-US" sz="1400" dirty="0"/>
                    </a:p>
                  </a:txBody>
                  <a:tcPr marT="0" marB="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marL="0" indent="0">
                        <a:buNone/>
                      </a:pPr>
                      <a:r>
                        <a:rPr lang="en-US" sz="1400" dirty="0">
                          <a:solidFill>
                            <a:srgbClr val="1B2430"/>
                          </a:solidFill>
                        </a:rPr>
                        <a:t>Active</a:t>
                      </a:r>
                      <a:endParaRPr lang="en-US" sz="1400" dirty="0"/>
                    </a:p>
                  </a:txBody>
                  <a:tcPr marT="0" marB="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marL="0" indent="0">
                        <a:buNone/>
                      </a:pPr>
                      <a:r>
                        <a:rPr lang="en-US" sz="1400" b="1" dirty="0">
                          <a:solidFill>
                            <a:srgbClr val="D7263D"/>
                          </a:solidFill>
                        </a:rPr>
                        <a:t>Authenticity</a:t>
                      </a:r>
                      <a:endParaRPr lang="en-US" sz="1400" dirty="0"/>
                    </a:p>
                  </a:txBody>
                  <a:tcPr marT="0" marB="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marL="0" indent="0">
                        <a:buNone/>
                      </a:pPr>
                      <a:r>
                        <a:rPr lang="en-US" sz="1400" dirty="0">
                          <a:solidFill>
                            <a:srgbClr val="1B2430"/>
                          </a:solidFill>
                        </a:rPr>
                        <a:t>A fake user gets access</a:t>
                      </a:r>
                      <a:endParaRPr lang="en-US" sz="1400" dirty="0"/>
                    </a:p>
                  </a:txBody>
                  <a:tcPr marT="0" marB="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400" dirty="0">
                          <a:solidFill>
                            <a:srgbClr val="1B2430"/>
                          </a:solidFill>
                        </a:rPr>
                        <a:t>Replay</a:t>
                      </a:r>
                      <a:endParaRPr lang="en-US" sz="1400" dirty="0"/>
                    </a:p>
                  </a:txBody>
                  <a:tcPr marT="0" marB="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marL="0" indent="0">
                        <a:buNone/>
                      </a:pPr>
                      <a:r>
                        <a:rPr lang="en-US" sz="1400" dirty="0">
                          <a:solidFill>
                            <a:srgbClr val="1B2430"/>
                          </a:solidFill>
                        </a:rPr>
                        <a:t>Active</a:t>
                      </a:r>
                      <a:endParaRPr lang="en-US" sz="1400" dirty="0"/>
                    </a:p>
                  </a:txBody>
                  <a:tcPr marT="0" marB="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marL="0" indent="0">
                        <a:buNone/>
                      </a:pPr>
                      <a:r>
                        <a:rPr lang="en-US" sz="1400" b="1" dirty="0">
                          <a:solidFill>
                            <a:srgbClr val="2E9E6B"/>
                          </a:solidFill>
                        </a:rPr>
                        <a:t>Integrity</a:t>
                      </a:r>
                      <a:endParaRPr lang="en-US" sz="1400" dirty="0"/>
                    </a:p>
                  </a:txBody>
                  <a:tcPr marT="0" marB="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marL="0" indent="0">
                        <a:buNone/>
                      </a:pPr>
                      <a:r>
                        <a:rPr lang="en-US" sz="1400" dirty="0">
                          <a:solidFill>
                            <a:srgbClr val="1B2430"/>
                          </a:solidFill>
                        </a:rPr>
                        <a:t>An old payment is sent again</a:t>
                      </a:r>
                      <a:endParaRPr lang="en-US" sz="1400" dirty="0"/>
                    </a:p>
                  </a:txBody>
                  <a:tcPr marT="0" marB="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400" dirty="0">
                          <a:solidFill>
                            <a:srgbClr val="1B2430"/>
                          </a:solidFill>
                        </a:rPr>
                        <a:t>Modification</a:t>
                      </a:r>
                      <a:endParaRPr lang="en-US" sz="1400" dirty="0"/>
                    </a:p>
                  </a:txBody>
                  <a:tcPr marT="0" marB="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marL="0" indent="0">
                        <a:buNone/>
                      </a:pPr>
                      <a:r>
                        <a:rPr lang="en-US" sz="1400" dirty="0">
                          <a:solidFill>
                            <a:srgbClr val="1B2430"/>
                          </a:solidFill>
                        </a:rPr>
                        <a:t>Active</a:t>
                      </a:r>
                      <a:endParaRPr lang="en-US" sz="1400" dirty="0"/>
                    </a:p>
                  </a:txBody>
                  <a:tcPr marT="0" marB="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marL="0" indent="0">
                        <a:buNone/>
                      </a:pPr>
                      <a:r>
                        <a:rPr lang="en-US" sz="1400" b="1" dirty="0">
                          <a:solidFill>
                            <a:srgbClr val="2E9E6B"/>
                          </a:solidFill>
                        </a:rPr>
                        <a:t>Integrity</a:t>
                      </a:r>
                      <a:endParaRPr lang="en-US" sz="1400" dirty="0"/>
                    </a:p>
                  </a:txBody>
                  <a:tcPr marT="0" marB="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marL="0" indent="0">
                        <a:buNone/>
                      </a:pPr>
                      <a:r>
                        <a:rPr lang="en-US" sz="1400" dirty="0">
                          <a:solidFill>
                            <a:srgbClr val="1B2430"/>
                          </a:solidFill>
                        </a:rPr>
                        <a:t>Message is changed on the way</a:t>
                      </a:r>
                      <a:endParaRPr lang="en-US" sz="1400" dirty="0"/>
                    </a:p>
                  </a:txBody>
                  <a:tcPr marT="0" marB="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400" dirty="0">
                          <a:solidFill>
                            <a:srgbClr val="1B2430"/>
                          </a:solidFill>
                        </a:rPr>
                        <a:t>Denial of Service</a:t>
                      </a:r>
                      <a:endParaRPr lang="en-US" sz="1400" dirty="0"/>
                    </a:p>
                  </a:txBody>
                  <a:tcPr marT="0" marB="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marL="0" indent="0">
                        <a:buNone/>
                      </a:pPr>
                      <a:r>
                        <a:rPr lang="en-US" sz="1400" dirty="0">
                          <a:solidFill>
                            <a:srgbClr val="1B2430"/>
                          </a:solidFill>
                        </a:rPr>
                        <a:t>Active</a:t>
                      </a:r>
                      <a:endParaRPr lang="en-US" sz="1400" dirty="0"/>
                    </a:p>
                  </a:txBody>
                  <a:tcPr marT="0" marB="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marL="0" indent="0">
                        <a:buNone/>
                      </a:pPr>
                      <a:r>
                        <a:rPr lang="en-US" sz="1400" b="1" dirty="0">
                          <a:solidFill>
                            <a:srgbClr val="E09F1F"/>
                          </a:solidFill>
                        </a:rPr>
                        <a:t>Availability</a:t>
                      </a:r>
                      <a:endParaRPr lang="en-US" sz="1400" dirty="0"/>
                    </a:p>
                  </a:txBody>
                  <a:tcPr marT="0" marB="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marL="0" indent="0">
                        <a:buNone/>
                      </a:pPr>
                      <a:r>
                        <a:rPr lang="en-US" sz="1400" dirty="0">
                          <a:solidFill>
                            <a:srgbClr val="1B2430"/>
                          </a:solidFill>
                        </a:rPr>
                        <a:t>Website or service goes down</a:t>
                      </a:r>
                      <a:endParaRPr lang="en-US" sz="1400" dirty="0"/>
                    </a:p>
                  </a:txBody>
                  <a:tcPr marT="0" marB="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tx2"/>
                </a:solidFill>
              </a:rPr>
              <a:t>Managing Risk and Defending</a:t>
            </a:r>
            <a:endParaRPr lang="en-US" sz="3600" dirty="0"/>
          </a:p>
        </p:txBody>
      </p:sp>
      <p:sp>
        <p:nvSpPr>
          <p:cNvPr id="3" name="Step 1"/>
          <p:cNvSpPr/>
          <p:nvPr/>
        </p:nvSpPr>
        <p:spPr>
          <a:xfrm>
            <a:off x="457200" y="1234440"/>
            <a:ext cx="1828800" cy="1097280"/>
          </a:xfrm>
          <a:prstGeom prst="roundRect">
            <a:avLst>
              <a:gd name="adj" fmla="val 10000"/>
            </a:avLst>
          </a:prstGeom>
          <a:solidFill>
            <a:schemeClr val="bg2"/>
          </a:solidFill>
          <a:ln/>
        </p:spPr>
      </p:sp>
      <p:sp>
        <p:nvSpPr>
          <p:cNvPr id="4" name="Identify circle"/>
          <p:cNvSpPr/>
          <p:nvPr/>
        </p:nvSpPr>
        <p:spPr>
          <a:xfrm>
            <a:off x="594360" y="1371600"/>
            <a:ext cx="457200" cy="457200"/>
          </a:xfrm>
          <a:prstGeom prst="ellipse">
            <a:avLst/>
          </a:prstGeom>
          <a:solidFill>
            <a:schemeClr val="accent2"/>
          </a:solidFill>
          <a:ln/>
        </p:spPr>
      </p:sp>
      <p:pic>
        <p:nvPicPr>
          <p:cNvPr id="5" name="Image 0" descr="Identify"/>
          <p:cNvPicPr>
            <a:picLocks noChangeAspect="1"/>
          </p:cNvPicPr>
          <p:nvPr/>
        </p:nvPicPr>
        <p:blipFill>
          <a:blip r:embed="rId3"/>
          <a:stretch>
            <a:fillRect/>
          </a:stretch>
        </p:blipFill>
        <p:spPr>
          <a:xfrm>
            <a:off x="708660" y="1485900"/>
            <a:ext cx="228600" cy="228600"/>
          </a:xfrm>
          <a:prstGeom prst="rect">
            <a:avLst/>
          </a:prstGeom>
        </p:spPr>
      </p:pic>
      <p:sp>
        <p:nvSpPr>
          <p:cNvPr id="6" name="Text 3"/>
          <p:cNvSpPr txBox="1"/>
          <p:nvPr/>
        </p:nvSpPr>
        <p:spPr>
          <a:xfrm>
            <a:off x="1143000" y="1371600"/>
            <a:ext cx="1097280" cy="457200"/>
          </a:xfrm>
          <a:prstGeom prst="rect">
            <a:avLst/>
          </a:prstGeom>
          <a:noFill/>
          <a:ln/>
        </p:spPr>
        <p:txBody>
          <a:bodyPr wrap="square" lIns="0" tIns="0" rIns="0" bIns="0" rtlCol="0" anchor="ctr"/>
          <a:lstStyle/>
          <a:p>
            <a:pPr marL="0" indent="0">
              <a:buNone/>
            </a:pPr>
            <a:r>
              <a:rPr lang="en-US" sz="1600" b="1" dirty="0">
                <a:solidFill>
                  <a:schemeClr val="tx2"/>
                </a:solidFill>
              </a:rPr>
              <a:t>1. Identify</a:t>
            </a:r>
            <a:endParaRPr lang="en-US" sz="1600" dirty="0"/>
          </a:p>
        </p:txBody>
      </p:sp>
      <p:sp>
        <p:nvSpPr>
          <p:cNvPr id="7" name="Text 4"/>
          <p:cNvSpPr txBox="1"/>
          <p:nvPr/>
        </p:nvSpPr>
        <p:spPr>
          <a:xfrm>
            <a:off x="594360" y="1874520"/>
            <a:ext cx="1600200" cy="411480"/>
          </a:xfrm>
          <a:prstGeom prst="rect">
            <a:avLst/>
          </a:prstGeom>
          <a:noFill/>
          <a:ln/>
        </p:spPr>
        <p:txBody>
          <a:bodyPr wrap="square" lIns="0" tIns="0" rIns="0" bIns="0" rtlCol="0" anchor="t"/>
          <a:lstStyle/>
          <a:p>
            <a:pPr marL="0" indent="0">
              <a:buNone/>
            </a:pPr>
            <a:r>
              <a:rPr lang="en-US" sz="1200" dirty="0">
                <a:solidFill>
                  <a:schemeClr val="tx1"/>
                </a:solidFill>
              </a:rPr>
              <a:t>Find assets and threats</a:t>
            </a:r>
            <a:endParaRPr lang="en-US" sz="1200" dirty="0"/>
          </a:p>
        </p:txBody>
      </p:sp>
      <p:sp>
        <p:nvSpPr>
          <p:cNvPr id="8" name="Text 5"/>
          <p:cNvSpPr txBox="1"/>
          <p:nvPr/>
        </p:nvSpPr>
        <p:spPr>
          <a:xfrm>
            <a:off x="2286000" y="1600200"/>
            <a:ext cx="301752" cy="365760"/>
          </a:xfrm>
          <a:prstGeom prst="rect">
            <a:avLst/>
          </a:prstGeom>
          <a:noFill/>
          <a:ln/>
        </p:spPr>
        <p:txBody>
          <a:bodyPr wrap="square" lIns="0" tIns="0" rIns="0" bIns="0" rtlCol="0" anchor="t"/>
          <a:lstStyle/>
          <a:p>
            <a:pPr marL="0" indent="0" algn="ctr">
              <a:buNone/>
            </a:pPr>
            <a:r>
              <a:rPr lang="en-US" sz="1800" b="1" dirty="0">
                <a:solidFill>
                  <a:schemeClr val="accent5"/>
                </a:solidFill>
              </a:rPr>
              <a:t>&gt;</a:t>
            </a:r>
            <a:endParaRPr lang="en-US" sz="1800" dirty="0"/>
          </a:p>
        </p:txBody>
      </p:sp>
      <p:sp>
        <p:nvSpPr>
          <p:cNvPr id="9" name="Step 2"/>
          <p:cNvSpPr/>
          <p:nvPr/>
        </p:nvSpPr>
        <p:spPr>
          <a:xfrm>
            <a:off x="2587752" y="1234440"/>
            <a:ext cx="1828800" cy="1097280"/>
          </a:xfrm>
          <a:prstGeom prst="roundRect">
            <a:avLst>
              <a:gd name="adj" fmla="val 10000"/>
            </a:avLst>
          </a:prstGeom>
          <a:solidFill>
            <a:schemeClr val="bg2"/>
          </a:solidFill>
          <a:ln/>
        </p:spPr>
      </p:sp>
      <p:sp>
        <p:nvSpPr>
          <p:cNvPr id="10" name="Assess circle"/>
          <p:cNvSpPr/>
          <p:nvPr/>
        </p:nvSpPr>
        <p:spPr>
          <a:xfrm>
            <a:off x="2724912" y="1371600"/>
            <a:ext cx="457200" cy="457200"/>
          </a:xfrm>
          <a:prstGeom prst="ellipse">
            <a:avLst/>
          </a:prstGeom>
          <a:solidFill>
            <a:schemeClr val="accent2"/>
          </a:solidFill>
          <a:ln/>
        </p:spPr>
      </p:sp>
      <p:pic>
        <p:nvPicPr>
          <p:cNvPr id="11" name="Image 1" descr="Assess"/>
          <p:cNvPicPr>
            <a:picLocks noChangeAspect="1"/>
          </p:cNvPicPr>
          <p:nvPr/>
        </p:nvPicPr>
        <p:blipFill>
          <a:blip r:embed="rId4"/>
          <a:stretch>
            <a:fillRect/>
          </a:stretch>
        </p:blipFill>
        <p:spPr>
          <a:xfrm>
            <a:off x="2839212" y="1485900"/>
            <a:ext cx="228600" cy="228600"/>
          </a:xfrm>
          <a:prstGeom prst="rect">
            <a:avLst/>
          </a:prstGeom>
        </p:spPr>
      </p:pic>
      <p:sp>
        <p:nvSpPr>
          <p:cNvPr id="12" name="Text 8"/>
          <p:cNvSpPr txBox="1"/>
          <p:nvPr/>
        </p:nvSpPr>
        <p:spPr>
          <a:xfrm>
            <a:off x="3273552" y="1371600"/>
            <a:ext cx="1097280" cy="457200"/>
          </a:xfrm>
          <a:prstGeom prst="rect">
            <a:avLst/>
          </a:prstGeom>
          <a:noFill/>
          <a:ln/>
        </p:spPr>
        <p:txBody>
          <a:bodyPr wrap="square" lIns="0" tIns="0" rIns="0" bIns="0" rtlCol="0" anchor="ctr"/>
          <a:lstStyle/>
          <a:p>
            <a:pPr marL="0" indent="0">
              <a:buNone/>
            </a:pPr>
            <a:r>
              <a:rPr lang="en-US" sz="1600" b="1" dirty="0">
                <a:solidFill>
                  <a:schemeClr val="tx2"/>
                </a:solidFill>
              </a:rPr>
              <a:t>2. Assess</a:t>
            </a:r>
            <a:endParaRPr lang="en-US" sz="1600" dirty="0"/>
          </a:p>
        </p:txBody>
      </p:sp>
      <p:sp>
        <p:nvSpPr>
          <p:cNvPr id="13" name="Text 9"/>
          <p:cNvSpPr txBox="1"/>
          <p:nvPr/>
        </p:nvSpPr>
        <p:spPr>
          <a:xfrm>
            <a:off x="2724912" y="1874520"/>
            <a:ext cx="1600200" cy="411480"/>
          </a:xfrm>
          <a:prstGeom prst="rect">
            <a:avLst/>
          </a:prstGeom>
          <a:noFill/>
          <a:ln/>
        </p:spPr>
        <p:txBody>
          <a:bodyPr wrap="square" lIns="0" tIns="0" rIns="0" bIns="0" rtlCol="0" anchor="t"/>
          <a:lstStyle/>
          <a:p>
            <a:pPr marL="0" indent="0">
              <a:buNone/>
            </a:pPr>
            <a:r>
              <a:rPr lang="en-US" sz="1200" dirty="0">
                <a:solidFill>
                  <a:schemeClr val="tx1"/>
                </a:solidFill>
              </a:rPr>
              <a:t>Check likelihood and impact</a:t>
            </a:r>
            <a:endParaRPr lang="en-US" sz="1200" dirty="0"/>
          </a:p>
        </p:txBody>
      </p:sp>
      <p:sp>
        <p:nvSpPr>
          <p:cNvPr id="14" name="Text 10"/>
          <p:cNvSpPr txBox="1"/>
          <p:nvPr/>
        </p:nvSpPr>
        <p:spPr>
          <a:xfrm>
            <a:off x="4416552" y="1600200"/>
            <a:ext cx="301752" cy="365760"/>
          </a:xfrm>
          <a:prstGeom prst="rect">
            <a:avLst/>
          </a:prstGeom>
          <a:noFill/>
          <a:ln/>
        </p:spPr>
        <p:txBody>
          <a:bodyPr wrap="square" lIns="0" tIns="0" rIns="0" bIns="0" rtlCol="0" anchor="t"/>
          <a:lstStyle/>
          <a:p>
            <a:pPr marL="0" indent="0" algn="ctr">
              <a:buNone/>
            </a:pPr>
            <a:r>
              <a:rPr lang="en-US" sz="1800" b="1" dirty="0">
                <a:solidFill>
                  <a:schemeClr val="accent5"/>
                </a:solidFill>
              </a:rPr>
              <a:t>&gt;</a:t>
            </a:r>
            <a:endParaRPr lang="en-US" sz="1800" dirty="0"/>
          </a:p>
        </p:txBody>
      </p:sp>
      <p:sp>
        <p:nvSpPr>
          <p:cNvPr id="15" name="Step 3"/>
          <p:cNvSpPr/>
          <p:nvPr/>
        </p:nvSpPr>
        <p:spPr>
          <a:xfrm>
            <a:off x="4718304" y="1234440"/>
            <a:ext cx="1828800" cy="1097280"/>
          </a:xfrm>
          <a:prstGeom prst="roundRect">
            <a:avLst>
              <a:gd name="adj" fmla="val 10000"/>
            </a:avLst>
          </a:prstGeom>
          <a:solidFill>
            <a:schemeClr val="bg2"/>
          </a:solidFill>
          <a:ln/>
        </p:spPr>
      </p:sp>
      <p:sp>
        <p:nvSpPr>
          <p:cNvPr id="16" name="Mitigate circle"/>
          <p:cNvSpPr/>
          <p:nvPr/>
        </p:nvSpPr>
        <p:spPr>
          <a:xfrm>
            <a:off x="4855464" y="1371600"/>
            <a:ext cx="457200" cy="457200"/>
          </a:xfrm>
          <a:prstGeom prst="ellipse">
            <a:avLst/>
          </a:prstGeom>
          <a:solidFill>
            <a:schemeClr val="accent2"/>
          </a:solidFill>
          <a:ln/>
        </p:spPr>
      </p:sp>
      <p:pic>
        <p:nvPicPr>
          <p:cNvPr id="17" name="Image 2" descr="Mitigate"/>
          <p:cNvPicPr>
            <a:picLocks noChangeAspect="1"/>
          </p:cNvPicPr>
          <p:nvPr/>
        </p:nvPicPr>
        <p:blipFill>
          <a:blip r:embed="rId5"/>
          <a:stretch>
            <a:fillRect/>
          </a:stretch>
        </p:blipFill>
        <p:spPr>
          <a:xfrm>
            <a:off x="4969764" y="1485900"/>
            <a:ext cx="228600" cy="228600"/>
          </a:xfrm>
          <a:prstGeom prst="rect">
            <a:avLst/>
          </a:prstGeom>
        </p:spPr>
      </p:pic>
      <p:sp>
        <p:nvSpPr>
          <p:cNvPr id="18" name="Text 13"/>
          <p:cNvSpPr txBox="1"/>
          <p:nvPr/>
        </p:nvSpPr>
        <p:spPr>
          <a:xfrm>
            <a:off x="5404104" y="1371600"/>
            <a:ext cx="1097280" cy="457200"/>
          </a:xfrm>
          <a:prstGeom prst="rect">
            <a:avLst/>
          </a:prstGeom>
          <a:noFill/>
          <a:ln/>
        </p:spPr>
        <p:txBody>
          <a:bodyPr wrap="square" lIns="0" tIns="0" rIns="0" bIns="0" rtlCol="0" anchor="ctr"/>
          <a:lstStyle/>
          <a:p>
            <a:pPr marL="0" indent="0">
              <a:buNone/>
            </a:pPr>
            <a:r>
              <a:rPr lang="en-US" sz="1600" b="1" dirty="0">
                <a:solidFill>
                  <a:schemeClr val="tx2"/>
                </a:solidFill>
              </a:rPr>
              <a:t>3. Mitigate</a:t>
            </a:r>
            <a:endParaRPr lang="en-US" sz="1600" dirty="0"/>
          </a:p>
        </p:txBody>
      </p:sp>
      <p:sp>
        <p:nvSpPr>
          <p:cNvPr id="19" name="Text 14"/>
          <p:cNvSpPr txBox="1"/>
          <p:nvPr/>
        </p:nvSpPr>
        <p:spPr>
          <a:xfrm>
            <a:off x="4855464" y="1874520"/>
            <a:ext cx="1600200" cy="411480"/>
          </a:xfrm>
          <a:prstGeom prst="rect">
            <a:avLst/>
          </a:prstGeom>
          <a:noFill/>
          <a:ln/>
        </p:spPr>
        <p:txBody>
          <a:bodyPr wrap="square" lIns="0" tIns="0" rIns="0" bIns="0" rtlCol="0" anchor="t"/>
          <a:lstStyle/>
          <a:p>
            <a:pPr marL="0" indent="0">
              <a:buNone/>
            </a:pPr>
            <a:r>
              <a:rPr lang="en-US" sz="1200" dirty="0">
                <a:solidFill>
                  <a:schemeClr val="tx1"/>
                </a:solidFill>
              </a:rPr>
              <a:t>Apply security controls</a:t>
            </a:r>
            <a:endParaRPr lang="en-US" sz="1200" dirty="0"/>
          </a:p>
        </p:txBody>
      </p:sp>
      <p:sp>
        <p:nvSpPr>
          <p:cNvPr id="20" name="Text 15"/>
          <p:cNvSpPr txBox="1"/>
          <p:nvPr/>
        </p:nvSpPr>
        <p:spPr>
          <a:xfrm>
            <a:off x="6547104" y="1600200"/>
            <a:ext cx="301752" cy="365760"/>
          </a:xfrm>
          <a:prstGeom prst="rect">
            <a:avLst/>
          </a:prstGeom>
          <a:noFill/>
          <a:ln/>
        </p:spPr>
        <p:txBody>
          <a:bodyPr wrap="square" lIns="0" tIns="0" rIns="0" bIns="0" rtlCol="0" anchor="t"/>
          <a:lstStyle/>
          <a:p>
            <a:pPr marL="0" indent="0" algn="ctr">
              <a:buNone/>
            </a:pPr>
            <a:r>
              <a:rPr lang="en-US" sz="1800" b="1" dirty="0">
                <a:solidFill>
                  <a:schemeClr val="accent5"/>
                </a:solidFill>
              </a:rPr>
              <a:t>&gt;</a:t>
            </a:r>
            <a:endParaRPr lang="en-US" sz="1800" dirty="0"/>
          </a:p>
        </p:txBody>
      </p:sp>
      <p:sp>
        <p:nvSpPr>
          <p:cNvPr id="21" name="Step 4"/>
          <p:cNvSpPr/>
          <p:nvPr/>
        </p:nvSpPr>
        <p:spPr>
          <a:xfrm>
            <a:off x="6848856" y="1234440"/>
            <a:ext cx="1828800" cy="1097280"/>
          </a:xfrm>
          <a:prstGeom prst="roundRect">
            <a:avLst>
              <a:gd name="adj" fmla="val 10000"/>
            </a:avLst>
          </a:prstGeom>
          <a:solidFill>
            <a:schemeClr val="bg2"/>
          </a:solidFill>
          <a:ln/>
        </p:spPr>
      </p:sp>
      <p:sp>
        <p:nvSpPr>
          <p:cNvPr id="22" name="Monitor circle"/>
          <p:cNvSpPr/>
          <p:nvPr/>
        </p:nvSpPr>
        <p:spPr>
          <a:xfrm>
            <a:off x="6986016" y="1371600"/>
            <a:ext cx="457200" cy="457200"/>
          </a:xfrm>
          <a:prstGeom prst="ellipse">
            <a:avLst/>
          </a:prstGeom>
          <a:solidFill>
            <a:schemeClr val="accent2"/>
          </a:solidFill>
          <a:ln/>
        </p:spPr>
      </p:sp>
      <p:pic>
        <p:nvPicPr>
          <p:cNvPr id="23" name="Image 3" descr="Monitor"/>
          <p:cNvPicPr>
            <a:picLocks noChangeAspect="1"/>
          </p:cNvPicPr>
          <p:nvPr/>
        </p:nvPicPr>
        <p:blipFill>
          <a:blip r:embed="rId6"/>
          <a:stretch>
            <a:fillRect/>
          </a:stretch>
        </p:blipFill>
        <p:spPr>
          <a:xfrm>
            <a:off x="7100316" y="1485900"/>
            <a:ext cx="228600" cy="228600"/>
          </a:xfrm>
          <a:prstGeom prst="rect">
            <a:avLst/>
          </a:prstGeom>
        </p:spPr>
      </p:pic>
      <p:sp>
        <p:nvSpPr>
          <p:cNvPr id="24" name="Text 18"/>
          <p:cNvSpPr txBox="1"/>
          <p:nvPr/>
        </p:nvSpPr>
        <p:spPr>
          <a:xfrm>
            <a:off x="7534656" y="1371600"/>
            <a:ext cx="1097280" cy="457200"/>
          </a:xfrm>
          <a:prstGeom prst="rect">
            <a:avLst/>
          </a:prstGeom>
          <a:noFill/>
          <a:ln/>
        </p:spPr>
        <p:txBody>
          <a:bodyPr wrap="square" lIns="0" tIns="0" rIns="0" bIns="0" rtlCol="0" anchor="ctr"/>
          <a:lstStyle/>
          <a:p>
            <a:pPr marL="0" indent="0">
              <a:buNone/>
            </a:pPr>
            <a:r>
              <a:rPr lang="en-US" sz="1600" b="1" dirty="0">
                <a:solidFill>
                  <a:schemeClr val="tx2"/>
                </a:solidFill>
              </a:rPr>
              <a:t>4. Monitor</a:t>
            </a:r>
            <a:endParaRPr lang="en-US" sz="1600" dirty="0"/>
          </a:p>
        </p:txBody>
      </p:sp>
      <p:sp>
        <p:nvSpPr>
          <p:cNvPr id="25" name="Text 19"/>
          <p:cNvSpPr txBox="1"/>
          <p:nvPr/>
        </p:nvSpPr>
        <p:spPr>
          <a:xfrm>
            <a:off x="6986016" y="1874520"/>
            <a:ext cx="1600200" cy="411480"/>
          </a:xfrm>
          <a:prstGeom prst="rect">
            <a:avLst/>
          </a:prstGeom>
          <a:noFill/>
          <a:ln/>
        </p:spPr>
        <p:txBody>
          <a:bodyPr wrap="square" lIns="0" tIns="0" rIns="0" bIns="0" rtlCol="0" anchor="t"/>
          <a:lstStyle/>
          <a:p>
            <a:pPr marL="0" indent="0">
              <a:buNone/>
            </a:pPr>
            <a:r>
              <a:rPr lang="en-US" sz="1200" dirty="0">
                <a:solidFill>
                  <a:schemeClr val="tx1"/>
                </a:solidFill>
              </a:rPr>
              <a:t>Watch and review often</a:t>
            </a:r>
            <a:endParaRPr lang="en-US" sz="1200" dirty="0"/>
          </a:p>
        </p:txBody>
      </p:sp>
      <p:sp>
        <p:nvSpPr>
          <p:cNvPr id="26" name="Text 20"/>
          <p:cNvSpPr txBox="1"/>
          <p:nvPr/>
        </p:nvSpPr>
        <p:spPr>
          <a:xfrm>
            <a:off x="457200" y="2514600"/>
            <a:ext cx="8229600" cy="320040"/>
          </a:xfrm>
          <a:prstGeom prst="rect">
            <a:avLst/>
          </a:prstGeom>
          <a:noFill/>
          <a:ln/>
        </p:spPr>
        <p:txBody>
          <a:bodyPr wrap="square" lIns="0" tIns="0" rIns="0" bIns="0" rtlCol="0" anchor="t"/>
          <a:lstStyle/>
          <a:p>
            <a:pPr marL="0" indent="0">
              <a:buNone/>
            </a:pPr>
            <a:r>
              <a:rPr lang="en-US" sz="1800" b="1" dirty="0">
                <a:solidFill>
                  <a:schemeClr val="tx2"/>
                </a:solidFill>
              </a:rPr>
              <a:t>Match a control to each goal</a:t>
            </a:r>
            <a:endParaRPr lang="en-US" sz="1800" dirty="0"/>
          </a:p>
        </p:txBody>
      </p:sp>
      <p:sp>
        <p:nvSpPr>
          <p:cNvPr id="27" name="Goal pill 1"/>
          <p:cNvSpPr/>
          <p:nvPr/>
        </p:nvSpPr>
        <p:spPr>
          <a:xfrm>
            <a:off x="457200" y="2926080"/>
            <a:ext cx="2103120" cy="457200"/>
          </a:xfrm>
          <a:prstGeom prst="roundRect">
            <a:avLst>
              <a:gd name="adj" fmla="val 50000"/>
            </a:avLst>
          </a:prstGeom>
          <a:solidFill>
            <a:schemeClr val="accent4"/>
          </a:solidFill>
          <a:ln/>
        </p:spPr>
      </p:sp>
      <p:sp>
        <p:nvSpPr>
          <p:cNvPr id="28" name="Text 22"/>
          <p:cNvSpPr txBox="1"/>
          <p:nvPr/>
        </p:nvSpPr>
        <p:spPr>
          <a:xfrm>
            <a:off x="457200" y="2926080"/>
            <a:ext cx="2103120" cy="457200"/>
          </a:xfrm>
          <a:prstGeom prst="rect">
            <a:avLst/>
          </a:prstGeom>
          <a:noFill/>
          <a:ln/>
        </p:spPr>
        <p:txBody>
          <a:bodyPr wrap="square" lIns="0" tIns="0" rIns="0" bIns="0" rtlCol="0" anchor="ctr"/>
          <a:lstStyle/>
          <a:p>
            <a:pPr marL="0" indent="0" algn="ctr">
              <a:buNone/>
            </a:pPr>
            <a:r>
              <a:rPr lang="en-US" sz="1400" b="1" dirty="0">
                <a:solidFill>
                  <a:schemeClr val="bg1"/>
                </a:solidFill>
              </a:rPr>
              <a:t>Confidentiality</a:t>
            </a:r>
            <a:endParaRPr lang="en-US" sz="1400" dirty="0"/>
          </a:p>
        </p:txBody>
      </p:sp>
      <p:sp>
        <p:nvSpPr>
          <p:cNvPr id="29" name="Text 23"/>
          <p:cNvSpPr txBox="1"/>
          <p:nvPr/>
        </p:nvSpPr>
        <p:spPr>
          <a:xfrm>
            <a:off x="2651760" y="2926080"/>
            <a:ext cx="365760" cy="457200"/>
          </a:xfrm>
          <a:prstGeom prst="rect">
            <a:avLst/>
          </a:prstGeom>
          <a:noFill/>
          <a:ln/>
        </p:spPr>
        <p:txBody>
          <a:bodyPr wrap="square" lIns="0" tIns="0" rIns="0" bIns="0" rtlCol="0" anchor="ctr"/>
          <a:lstStyle/>
          <a:p>
            <a:pPr marL="0" indent="0" algn="ctr">
              <a:buNone/>
            </a:pPr>
            <a:r>
              <a:rPr lang="en-US" sz="1800" b="1" dirty="0">
                <a:solidFill>
                  <a:schemeClr val="accent5"/>
                </a:solidFill>
              </a:rPr>
              <a:t>&gt;</a:t>
            </a:r>
            <a:endParaRPr lang="en-US" sz="1800" dirty="0"/>
          </a:p>
        </p:txBody>
      </p:sp>
      <p:sp>
        <p:nvSpPr>
          <p:cNvPr id="30" name="Text 24"/>
          <p:cNvSpPr txBox="1"/>
          <p:nvPr/>
        </p:nvSpPr>
        <p:spPr>
          <a:xfrm>
            <a:off x="3108960" y="2926080"/>
            <a:ext cx="5577840" cy="457200"/>
          </a:xfrm>
          <a:prstGeom prst="rect">
            <a:avLst/>
          </a:prstGeom>
          <a:noFill/>
          <a:ln/>
        </p:spPr>
        <p:txBody>
          <a:bodyPr wrap="square" lIns="0" tIns="0" rIns="0" bIns="0" rtlCol="0" anchor="ctr"/>
          <a:lstStyle/>
          <a:p>
            <a:pPr marL="0" indent="0">
              <a:buNone/>
            </a:pPr>
            <a:r>
              <a:rPr lang="en-US" sz="1600" dirty="0">
                <a:solidFill>
                  <a:schemeClr val="tx1"/>
                </a:solidFill>
              </a:rPr>
              <a:t>Encryption (AES, RSA) and access control</a:t>
            </a:r>
            <a:endParaRPr lang="en-US" sz="1600" dirty="0"/>
          </a:p>
        </p:txBody>
      </p:sp>
      <p:sp>
        <p:nvSpPr>
          <p:cNvPr id="31" name="Goal pill 2"/>
          <p:cNvSpPr/>
          <p:nvPr/>
        </p:nvSpPr>
        <p:spPr>
          <a:xfrm>
            <a:off x="457200" y="3493008"/>
            <a:ext cx="2103120" cy="457200"/>
          </a:xfrm>
          <a:prstGeom prst="roundRect">
            <a:avLst>
              <a:gd name="adj" fmla="val 50000"/>
            </a:avLst>
          </a:prstGeom>
          <a:solidFill>
            <a:schemeClr val="accent6"/>
          </a:solidFill>
          <a:ln/>
        </p:spPr>
      </p:sp>
      <p:sp>
        <p:nvSpPr>
          <p:cNvPr id="32" name="Text 26"/>
          <p:cNvSpPr txBox="1"/>
          <p:nvPr/>
        </p:nvSpPr>
        <p:spPr>
          <a:xfrm>
            <a:off x="457200" y="3493008"/>
            <a:ext cx="2103120" cy="457200"/>
          </a:xfrm>
          <a:prstGeom prst="rect">
            <a:avLst/>
          </a:prstGeom>
          <a:noFill/>
          <a:ln/>
        </p:spPr>
        <p:txBody>
          <a:bodyPr wrap="square" lIns="0" tIns="0" rIns="0" bIns="0" rtlCol="0" anchor="ctr"/>
          <a:lstStyle/>
          <a:p>
            <a:pPr marL="0" indent="0" algn="ctr">
              <a:buNone/>
            </a:pPr>
            <a:r>
              <a:rPr lang="en-US" sz="1400" b="1" dirty="0">
                <a:solidFill>
                  <a:schemeClr val="bg1"/>
                </a:solidFill>
              </a:rPr>
              <a:t>Integrity</a:t>
            </a:r>
            <a:endParaRPr lang="en-US" sz="1400" dirty="0"/>
          </a:p>
        </p:txBody>
      </p:sp>
      <p:sp>
        <p:nvSpPr>
          <p:cNvPr id="33" name="Text 27"/>
          <p:cNvSpPr txBox="1"/>
          <p:nvPr/>
        </p:nvSpPr>
        <p:spPr>
          <a:xfrm>
            <a:off x="2651760" y="3493008"/>
            <a:ext cx="365760" cy="457200"/>
          </a:xfrm>
          <a:prstGeom prst="rect">
            <a:avLst/>
          </a:prstGeom>
          <a:noFill/>
          <a:ln/>
        </p:spPr>
        <p:txBody>
          <a:bodyPr wrap="square" lIns="0" tIns="0" rIns="0" bIns="0" rtlCol="0" anchor="ctr"/>
          <a:lstStyle/>
          <a:p>
            <a:pPr marL="0" indent="0" algn="ctr">
              <a:buNone/>
            </a:pPr>
            <a:r>
              <a:rPr lang="en-US" sz="1800" b="1" dirty="0">
                <a:solidFill>
                  <a:schemeClr val="accent5"/>
                </a:solidFill>
              </a:rPr>
              <a:t>&gt;</a:t>
            </a:r>
            <a:endParaRPr lang="en-US" sz="1800" dirty="0"/>
          </a:p>
        </p:txBody>
      </p:sp>
      <p:sp>
        <p:nvSpPr>
          <p:cNvPr id="34" name="Text 28"/>
          <p:cNvSpPr txBox="1"/>
          <p:nvPr/>
        </p:nvSpPr>
        <p:spPr>
          <a:xfrm>
            <a:off x="3108960" y="3493008"/>
            <a:ext cx="5577840" cy="457200"/>
          </a:xfrm>
          <a:prstGeom prst="rect">
            <a:avLst/>
          </a:prstGeom>
          <a:noFill/>
          <a:ln/>
        </p:spPr>
        <p:txBody>
          <a:bodyPr wrap="square" lIns="0" tIns="0" rIns="0" bIns="0" rtlCol="0" anchor="ctr"/>
          <a:lstStyle/>
          <a:p>
            <a:pPr marL="0" indent="0">
              <a:buNone/>
            </a:pPr>
            <a:r>
              <a:rPr lang="en-US" sz="1600" dirty="0">
                <a:solidFill>
                  <a:schemeClr val="tx1"/>
                </a:solidFill>
              </a:rPr>
              <a:t>Hash functions, MAC and digital signatures</a:t>
            </a:r>
            <a:endParaRPr lang="en-US" sz="1600" dirty="0"/>
          </a:p>
        </p:txBody>
      </p:sp>
      <p:sp>
        <p:nvSpPr>
          <p:cNvPr id="35" name="Goal pill 3"/>
          <p:cNvSpPr/>
          <p:nvPr/>
        </p:nvSpPr>
        <p:spPr>
          <a:xfrm>
            <a:off x="457200" y="4059936"/>
            <a:ext cx="2103120" cy="457200"/>
          </a:xfrm>
          <a:prstGeom prst="roundRect">
            <a:avLst>
              <a:gd name="adj" fmla="val 50000"/>
            </a:avLst>
          </a:prstGeom>
          <a:solidFill>
            <a:schemeClr val="accent3"/>
          </a:solidFill>
          <a:ln/>
        </p:spPr>
      </p:sp>
      <p:sp>
        <p:nvSpPr>
          <p:cNvPr id="36" name="Text 30"/>
          <p:cNvSpPr txBox="1"/>
          <p:nvPr/>
        </p:nvSpPr>
        <p:spPr>
          <a:xfrm>
            <a:off x="457200" y="4059936"/>
            <a:ext cx="2103120" cy="457200"/>
          </a:xfrm>
          <a:prstGeom prst="rect">
            <a:avLst/>
          </a:prstGeom>
          <a:noFill/>
          <a:ln/>
        </p:spPr>
        <p:txBody>
          <a:bodyPr wrap="square" lIns="0" tIns="0" rIns="0" bIns="0" rtlCol="0" anchor="ctr"/>
          <a:lstStyle/>
          <a:p>
            <a:pPr marL="0" indent="0" algn="ctr">
              <a:buNone/>
            </a:pPr>
            <a:r>
              <a:rPr lang="en-US" sz="1400" b="1" dirty="0">
                <a:solidFill>
                  <a:schemeClr val="bg1"/>
                </a:solidFill>
              </a:rPr>
              <a:t>Availability</a:t>
            </a:r>
            <a:endParaRPr lang="en-US" sz="1400" dirty="0"/>
          </a:p>
        </p:txBody>
      </p:sp>
      <p:sp>
        <p:nvSpPr>
          <p:cNvPr id="37" name="Text 31"/>
          <p:cNvSpPr txBox="1"/>
          <p:nvPr/>
        </p:nvSpPr>
        <p:spPr>
          <a:xfrm>
            <a:off x="2651760" y="4059936"/>
            <a:ext cx="365760" cy="457200"/>
          </a:xfrm>
          <a:prstGeom prst="rect">
            <a:avLst/>
          </a:prstGeom>
          <a:noFill/>
          <a:ln/>
        </p:spPr>
        <p:txBody>
          <a:bodyPr wrap="square" lIns="0" tIns="0" rIns="0" bIns="0" rtlCol="0" anchor="ctr"/>
          <a:lstStyle/>
          <a:p>
            <a:pPr marL="0" indent="0" algn="ctr">
              <a:buNone/>
            </a:pPr>
            <a:r>
              <a:rPr lang="en-US" sz="1800" b="1" dirty="0">
                <a:solidFill>
                  <a:schemeClr val="accent5"/>
                </a:solidFill>
              </a:rPr>
              <a:t>&gt;</a:t>
            </a:r>
            <a:endParaRPr lang="en-US" sz="1800" dirty="0"/>
          </a:p>
        </p:txBody>
      </p:sp>
      <p:sp>
        <p:nvSpPr>
          <p:cNvPr id="38" name="Text 32"/>
          <p:cNvSpPr txBox="1"/>
          <p:nvPr/>
        </p:nvSpPr>
        <p:spPr>
          <a:xfrm>
            <a:off x="3108960" y="4059936"/>
            <a:ext cx="5577840" cy="457200"/>
          </a:xfrm>
          <a:prstGeom prst="rect">
            <a:avLst/>
          </a:prstGeom>
          <a:noFill/>
          <a:ln/>
        </p:spPr>
        <p:txBody>
          <a:bodyPr wrap="square" lIns="0" tIns="0" rIns="0" bIns="0" rtlCol="0" anchor="ctr"/>
          <a:lstStyle/>
          <a:p>
            <a:pPr marL="0" indent="0">
              <a:buNone/>
            </a:pPr>
            <a:r>
              <a:rPr lang="en-US" sz="1600" dirty="0">
                <a:solidFill>
                  <a:schemeClr val="tx1"/>
                </a:solidFill>
              </a:rPr>
              <a:t>Backups, firewalls and extra (redundant) servers</a:t>
            </a:r>
            <a:endParaRPr lang="en-US" sz="1600" dirty="0"/>
          </a:p>
        </p:txBody>
      </p:sp>
      <p:sp>
        <p:nvSpPr>
          <p:cNvPr id="39"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Conclusion</a:t>
            </a:r>
            <a:endParaRPr lang="en-US" sz="3600" dirty="0"/>
          </a:p>
        </p:txBody>
      </p:sp>
      <p:sp>
        <p:nvSpPr>
          <p:cNvPr id="3" name="Number 1"/>
          <p:cNvSpPr/>
          <p:nvPr/>
        </p:nvSpPr>
        <p:spPr>
          <a:xfrm>
            <a:off x="457200" y="1188720"/>
            <a:ext cx="548640" cy="548640"/>
          </a:xfrm>
          <a:prstGeom prst="ellipse">
            <a:avLst/>
          </a:prstGeom>
          <a:solidFill>
            <a:schemeClr val="accent1"/>
          </a:solidFill>
          <a:ln/>
        </p:spPr>
      </p:sp>
      <p:sp>
        <p:nvSpPr>
          <p:cNvPr id="4" name="Text 2"/>
          <p:cNvSpPr txBox="1"/>
          <p:nvPr/>
        </p:nvSpPr>
        <p:spPr>
          <a:xfrm>
            <a:off x="457200" y="11887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5" name="Text 3"/>
          <p:cNvSpPr txBox="1"/>
          <p:nvPr/>
        </p:nvSpPr>
        <p:spPr>
          <a:xfrm>
            <a:off x="1188720" y="1188720"/>
            <a:ext cx="5120640" cy="548640"/>
          </a:xfrm>
          <a:prstGeom prst="rect">
            <a:avLst/>
          </a:prstGeom>
          <a:noFill/>
          <a:ln/>
        </p:spPr>
        <p:txBody>
          <a:bodyPr wrap="square" lIns="0" tIns="0" rIns="0" bIns="0" rtlCol="0" anchor="ctr"/>
          <a:lstStyle/>
          <a:p>
            <a:pPr marL="0" indent="0">
              <a:buNone/>
            </a:pPr>
            <a:r>
              <a:rPr lang="en-US" sz="1800" dirty="0">
                <a:solidFill>
                  <a:schemeClr val="bg1"/>
                </a:solidFill>
              </a:rPr>
              <a:t>Security goals (CIA) are what we protect</a:t>
            </a:r>
            <a:endParaRPr lang="en-US" sz="1800" dirty="0"/>
          </a:p>
        </p:txBody>
      </p:sp>
      <p:sp>
        <p:nvSpPr>
          <p:cNvPr id="6" name="Number 2"/>
          <p:cNvSpPr/>
          <p:nvPr/>
        </p:nvSpPr>
        <p:spPr>
          <a:xfrm>
            <a:off x="457200" y="1874520"/>
            <a:ext cx="548640" cy="548640"/>
          </a:xfrm>
          <a:prstGeom prst="ellipse">
            <a:avLst/>
          </a:prstGeom>
          <a:solidFill>
            <a:schemeClr val="accent1"/>
          </a:solidFill>
          <a:ln/>
        </p:spPr>
      </p:sp>
      <p:sp>
        <p:nvSpPr>
          <p:cNvPr id="7" name="Text 5"/>
          <p:cNvSpPr txBox="1"/>
          <p:nvPr/>
        </p:nvSpPr>
        <p:spPr>
          <a:xfrm>
            <a:off x="457200" y="18745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8" name="Text 6"/>
          <p:cNvSpPr txBox="1"/>
          <p:nvPr/>
        </p:nvSpPr>
        <p:spPr>
          <a:xfrm>
            <a:off x="1188720" y="1874520"/>
            <a:ext cx="5120640" cy="548640"/>
          </a:xfrm>
          <a:prstGeom prst="rect">
            <a:avLst/>
          </a:prstGeom>
          <a:noFill/>
          <a:ln/>
        </p:spPr>
        <p:txBody>
          <a:bodyPr wrap="square" lIns="0" tIns="0" rIns="0" bIns="0" rtlCol="0" anchor="ctr"/>
          <a:lstStyle/>
          <a:p>
            <a:pPr marL="0" indent="0">
              <a:buNone/>
            </a:pPr>
            <a:r>
              <a:rPr lang="en-US" sz="1800" dirty="0">
                <a:solidFill>
                  <a:schemeClr val="bg1"/>
                </a:solidFill>
              </a:rPr>
              <a:t>Threat + weakness = risk; an attack is the real attempt</a:t>
            </a:r>
            <a:endParaRPr lang="en-US" sz="1800" dirty="0"/>
          </a:p>
        </p:txBody>
      </p:sp>
      <p:sp>
        <p:nvSpPr>
          <p:cNvPr id="9" name="Number 3"/>
          <p:cNvSpPr/>
          <p:nvPr/>
        </p:nvSpPr>
        <p:spPr>
          <a:xfrm>
            <a:off x="457200" y="2560320"/>
            <a:ext cx="548640" cy="548640"/>
          </a:xfrm>
          <a:prstGeom prst="ellipse">
            <a:avLst/>
          </a:prstGeom>
          <a:solidFill>
            <a:schemeClr val="accent1"/>
          </a:solidFill>
          <a:ln/>
        </p:spPr>
      </p:sp>
      <p:sp>
        <p:nvSpPr>
          <p:cNvPr id="10" name="Text 8"/>
          <p:cNvSpPr txBox="1"/>
          <p:nvPr/>
        </p:nvSpPr>
        <p:spPr>
          <a:xfrm>
            <a:off x="457200" y="25603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1" name="Text 9"/>
          <p:cNvSpPr txBox="1"/>
          <p:nvPr/>
        </p:nvSpPr>
        <p:spPr>
          <a:xfrm>
            <a:off x="1188720" y="2560320"/>
            <a:ext cx="5120640" cy="548640"/>
          </a:xfrm>
          <a:prstGeom prst="rect">
            <a:avLst/>
          </a:prstGeom>
          <a:noFill/>
          <a:ln/>
        </p:spPr>
        <p:txBody>
          <a:bodyPr wrap="square" lIns="0" tIns="0" rIns="0" bIns="0" rtlCol="0" anchor="ctr"/>
          <a:lstStyle/>
          <a:p>
            <a:pPr marL="0" indent="0">
              <a:buNone/>
            </a:pPr>
            <a:r>
              <a:rPr lang="en-US" sz="1800" dirty="0">
                <a:solidFill>
                  <a:schemeClr val="bg1"/>
                </a:solidFill>
              </a:rPr>
              <a:t>Passive attacks spy; active attacks change or block</a:t>
            </a:r>
            <a:endParaRPr lang="en-US" sz="1800" dirty="0"/>
          </a:p>
        </p:txBody>
      </p:sp>
      <p:sp>
        <p:nvSpPr>
          <p:cNvPr id="12" name="Number 4"/>
          <p:cNvSpPr/>
          <p:nvPr/>
        </p:nvSpPr>
        <p:spPr>
          <a:xfrm>
            <a:off x="457200" y="3246120"/>
            <a:ext cx="548640" cy="548640"/>
          </a:xfrm>
          <a:prstGeom prst="ellipse">
            <a:avLst/>
          </a:prstGeom>
          <a:solidFill>
            <a:schemeClr val="accent1"/>
          </a:solidFill>
          <a:ln/>
        </p:spPr>
      </p:sp>
      <p:sp>
        <p:nvSpPr>
          <p:cNvPr id="13" name="Text 11"/>
          <p:cNvSpPr txBox="1"/>
          <p:nvPr/>
        </p:nvSpPr>
        <p:spPr>
          <a:xfrm>
            <a:off x="457200" y="32461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4" name="Text 12"/>
          <p:cNvSpPr txBox="1"/>
          <p:nvPr/>
        </p:nvSpPr>
        <p:spPr>
          <a:xfrm>
            <a:off x="1188720" y="3246120"/>
            <a:ext cx="5120640" cy="548640"/>
          </a:xfrm>
          <a:prstGeom prst="rect">
            <a:avLst/>
          </a:prstGeom>
          <a:noFill/>
          <a:ln/>
        </p:spPr>
        <p:txBody>
          <a:bodyPr wrap="square" lIns="0" tIns="0" rIns="0" bIns="0" rtlCol="0" anchor="ctr"/>
          <a:lstStyle/>
          <a:p>
            <a:pPr marL="0" indent="0">
              <a:buNone/>
            </a:pPr>
            <a:r>
              <a:rPr lang="en-US" sz="1800" dirty="0">
                <a:solidFill>
                  <a:schemeClr val="bg1"/>
                </a:solidFill>
              </a:rPr>
              <a:t>Every attack hurts a goal, so choose controls to match</a:t>
            </a:r>
            <a:endParaRPr lang="en-US" sz="1800" dirty="0"/>
          </a:p>
        </p:txBody>
      </p:sp>
      <p:sp>
        <p:nvSpPr>
          <p:cNvPr id="15" name="Text 13"/>
          <p:cNvSpPr txBox="1"/>
          <p:nvPr/>
        </p:nvSpPr>
        <p:spPr>
          <a:xfrm>
            <a:off x="457200" y="4160520"/>
            <a:ext cx="5852160" cy="411480"/>
          </a:xfrm>
          <a:prstGeom prst="rect">
            <a:avLst/>
          </a:prstGeom>
          <a:noFill/>
          <a:ln/>
        </p:spPr>
        <p:txBody>
          <a:bodyPr wrap="square" lIns="0" tIns="0" rIns="0" bIns="0" rtlCol="0" anchor="t"/>
          <a:lstStyle/>
          <a:p>
            <a:pPr marL="0" indent="0">
              <a:buNone/>
            </a:pPr>
            <a:r>
              <a:rPr lang="en-US" sz="1600" i="1" dirty="0">
                <a:solidFill>
                  <a:schemeClr val="bg2"/>
                </a:solidFill>
              </a:rPr>
              <a:t>Understanding attacks helps us choose the right security controls.</a:t>
            </a:r>
            <a:endParaRPr lang="en-US" sz="1600" dirty="0"/>
          </a:p>
        </p:txBody>
      </p:sp>
      <p:sp>
        <p:nvSpPr>
          <p:cNvPr id="16" name="Closing circle"/>
          <p:cNvSpPr/>
          <p:nvPr/>
        </p:nvSpPr>
        <p:spPr>
          <a:xfrm>
            <a:off x="6858000" y="1737360"/>
            <a:ext cx="1645920" cy="1645920"/>
          </a:xfrm>
          <a:prstGeom prst="ellipse">
            <a:avLst/>
          </a:prstGeom>
          <a:solidFill>
            <a:schemeClr val="accent2"/>
          </a:solidFill>
          <a:ln/>
        </p:spPr>
      </p:sp>
      <p:pic>
        <p:nvPicPr>
          <p:cNvPr id="17" name="Image 0" descr="shield"/>
          <p:cNvPicPr>
            <a:picLocks noChangeAspect="1"/>
          </p:cNvPicPr>
          <p:nvPr/>
        </p:nvPicPr>
        <p:blipFill>
          <a:blip r:embed="rId3"/>
          <a:stretch>
            <a:fillRect/>
          </a:stretch>
        </p:blipFill>
        <p:spPr>
          <a:xfrm>
            <a:off x="7269480" y="2148840"/>
            <a:ext cx="822960" cy="822960"/>
          </a:xfrm>
          <a:prstGeom prst="rect">
            <a:avLst/>
          </a:prstGeom>
        </p:spPr>
      </p:pic>
      <p:sp>
        <p:nvSpPr>
          <p:cNvPr id="18" name="Text 15"/>
          <p:cNvSpPr txBox="1"/>
          <p:nvPr/>
        </p:nvSpPr>
        <p:spPr>
          <a:xfrm>
            <a:off x="6400800" y="3566160"/>
            <a:ext cx="2560320" cy="457200"/>
          </a:xfrm>
          <a:prstGeom prst="rect">
            <a:avLst/>
          </a:prstGeom>
          <a:noFill/>
          <a:ln/>
        </p:spPr>
        <p:txBody>
          <a:bodyPr wrap="square" lIns="0" tIns="0" rIns="0" bIns="0" rtlCol="0" anchor="t"/>
          <a:lstStyle/>
          <a:p>
            <a:pPr marL="0" indent="0" algn="ctr">
              <a:buNone/>
            </a:pPr>
            <a:r>
              <a:rPr lang="en-US" sz="2400" b="1" dirty="0">
                <a:solidFill>
                  <a:schemeClr val="bg1"/>
                </a:solidFill>
              </a:rPr>
              <a:t>Thank you</a:t>
            </a:r>
            <a:endParaRPr lang="en-US" sz="2400" dirty="0"/>
          </a:p>
        </p:txBody>
      </p:sp>
      <p:sp>
        <p:nvSpPr>
          <p:cNvPr id="19" name="Text 16"/>
          <p:cNvSpPr txBox="1"/>
          <p:nvPr/>
        </p:nvSpPr>
        <p:spPr>
          <a:xfrm>
            <a:off x="6400800" y="4023360"/>
            <a:ext cx="2560320" cy="365760"/>
          </a:xfrm>
          <a:prstGeom prst="rect">
            <a:avLst/>
          </a:prstGeom>
          <a:noFill/>
          <a:ln/>
        </p:spPr>
        <p:txBody>
          <a:bodyPr wrap="square" lIns="0" tIns="0" rIns="0" bIns="0" rtlCol="0" anchor="t"/>
          <a:lstStyle/>
          <a:p>
            <a:pPr marL="0" indent="0" algn="ctr">
              <a:buNone/>
            </a:pPr>
            <a:r>
              <a:rPr lang="en-US" sz="1600" dirty="0">
                <a:solidFill>
                  <a:schemeClr val="bg2"/>
                </a:solidFill>
              </a:rPr>
              <a:t>Questions?</a:t>
            </a:r>
            <a:endParaRPr lang="en-US" sz="1600" dirty="0"/>
          </a:p>
        </p:txBody>
      </p:sp>
    </p:spTree>
  </p:cSld>
  <p:clrMapOvr>
    <a:masterClrMapping/>
  </p:clrMapOvr>
</p:sld>
</file>

<file path=ppt/theme/theme1.xml><?xml version="1.0" encoding="utf-8"?>
<a:theme xmlns:a="http://schemas.openxmlformats.org/drawingml/2006/main" name="CyberDefense">
  <a:themeElements>
    <a:clrScheme name="CyberDefense">
      <a:dk1>
        <a:srgbClr val="1B2430"/>
      </a:dk1>
      <a:lt1>
        <a:srgbClr val="FFFFFF"/>
      </a:lt1>
      <a:dk2>
        <a:srgbClr val="0E2238"/>
      </a:dk2>
      <a:lt2>
        <a:srgbClr val="EDF2F7"/>
      </a:lt2>
      <a:accent1>
        <a:srgbClr val="D7263D"/>
      </a:accent1>
      <a:accent2>
        <a:srgbClr val="0FA3B1"/>
      </a:accent2>
      <a:accent3>
        <a:srgbClr val="E09F1F"/>
      </a:accent3>
      <a:accent4>
        <a:srgbClr val="3D5A80"/>
      </a:accent4>
      <a:accent5>
        <a:srgbClr val="5F6B7A"/>
      </a:accent5>
      <a:accent6>
        <a:srgbClr val="2E9E6B"/>
      </a:accent6>
      <a:hlink>
        <a:srgbClr val="0FA3B1"/>
      </a:hlink>
      <a:folHlink>
        <a:srgbClr val="5F6B7A"/>
      </a:folHlink>
    </a:clrScheme>
    <a:fontScheme name="CyberDefen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1555</Words>
  <Application>Microsoft Office PowerPoint</Application>
  <PresentationFormat>On-screen Show (16:9)</PresentationFormat>
  <Paragraphs>185</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CyberDefense</vt:lpstr>
      <vt:lpstr>Security Attacks, Threats, Risks and Their Impact on Security Goals</vt:lpstr>
      <vt:lpstr>Introduction</vt:lpstr>
      <vt:lpstr>What Are We Protecting?</vt:lpstr>
      <vt:lpstr>Threat, Vulnerability, Attack, Risk</vt:lpstr>
      <vt:lpstr>Common Security Threats</vt:lpstr>
      <vt:lpstr>Two Kinds of Attacks</vt:lpstr>
      <vt:lpstr>Passive Attacks: Spying</vt:lpstr>
      <vt:lpstr>Active Attacks: Interfering</vt:lpstr>
      <vt:lpstr>Impact on Security Goals</vt:lpstr>
      <vt:lpstr>Managing Risk and Defending</vt:lpstr>
      <vt:lpstr>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Attacks, Threats, Risks and Their Impact on Security Goals</dc:title>
  <dc:subject>PptxGenJS Presentation</dc:subject>
  <dc:creator>PptxGenJS</dc:creator>
  <cp:lastModifiedBy>Yuvan Shankar</cp:lastModifiedBy>
  <cp:revision>2</cp:revision>
  <dcterms:created xsi:type="dcterms:W3CDTF">2026-10-08T03:32:57Z</dcterms:created>
  <dcterms:modified xsi:type="dcterms:W3CDTF">2026-10-08T03:35:41Z</dcterms:modified>
</cp:coreProperties>
</file>